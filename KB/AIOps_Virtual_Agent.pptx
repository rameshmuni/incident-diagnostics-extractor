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10" Type="http://schemas.openxmlformats.org/officeDocument/2006/relationships/image" Target="../media/image21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22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AIOPS VIRTUAL AGENT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822960" y="26974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3A4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00B3A4"/>
                </a:solidFill>
                <a:latin typeface="Calibri"/>
                <a:ea typeface="Calibri"/>
                <a:cs typeface="Calibri"/>
                <a:sym typeface="Calibri"/>
              </a:rPr>
              <a:t>Incident Diagnostics Assistant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3310128"/>
            <a:ext cx="8961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6C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B9C6CD"/>
                </a:solidFill>
                <a:latin typeface="Calibri"/>
                <a:ea typeface="Calibri"/>
                <a:cs typeface="Calibri"/>
                <a:sym typeface="Calibri"/>
              </a:rPr>
              <a:t>A fully Google-native Retrieval-Augmented Generation pipeline for automated incident triage — no FAISS, no self-hosted models, no local index files.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1E35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servicenow.png"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661" y="4234221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/>
        </p:nvSpPr>
        <p:spPr>
          <a:xfrm>
            <a:off x="457200" y="4800600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6C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C6CD"/>
                </a:solidFill>
                <a:latin typeface="Calibri"/>
                <a:ea typeface="Calibri"/>
                <a:cs typeface="Calibri"/>
                <a:sym typeface="Calibri"/>
              </a:rPr>
              <a:t>ServiceNow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1463040" y="4443984"/>
            <a:ext cx="1618488" cy="0"/>
          </a:xfrm>
          <a:prstGeom prst="straightConnector1">
            <a:avLst/>
          </a:prstGeom>
          <a:noFill/>
          <a:ln cap="flat" cmpd="sng" w="19050">
            <a:solidFill>
              <a:srgbClr val="2A435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" name="Google Shape;23;p3"/>
          <p:cNvSpPr/>
          <p:nvPr/>
        </p:nvSpPr>
        <p:spPr>
          <a:xfrm>
            <a:off x="3154680" y="4160520"/>
            <a:ext cx="566928" cy="566928"/>
          </a:xfrm>
          <a:prstGeom prst="ellipse">
            <a:avLst/>
          </a:prstGeom>
          <a:solidFill>
            <a:srgbClr val="1E35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embed.png" id="24" name="Google Shape;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8381" y="4234221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2788920" y="4800600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6C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C6CD"/>
                </a:solidFill>
                <a:latin typeface="Calibri"/>
                <a:ea typeface="Calibri"/>
                <a:cs typeface="Calibri"/>
                <a:sym typeface="Calibri"/>
              </a:rPr>
              <a:t>Gemini Embed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3794760" y="4443984"/>
            <a:ext cx="1618488" cy="0"/>
          </a:xfrm>
          <a:prstGeom prst="straightConnector1">
            <a:avLst/>
          </a:prstGeom>
          <a:noFill/>
          <a:ln cap="flat" cmpd="sng" w="19050">
            <a:solidFill>
              <a:srgbClr val="2A435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" name="Google Shape;27;p3"/>
          <p:cNvSpPr/>
          <p:nvPr/>
        </p:nvSpPr>
        <p:spPr>
          <a:xfrm>
            <a:off x="5486400" y="4160520"/>
            <a:ext cx="566928" cy="566928"/>
          </a:xfrm>
          <a:prstGeom prst="ellipse">
            <a:avLst/>
          </a:prstGeom>
          <a:solidFill>
            <a:srgbClr val="1E35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bigquery.png" id="28" name="Google Shape;2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60101" y="4234221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/>
          <p:nvPr/>
        </p:nvSpPr>
        <p:spPr>
          <a:xfrm>
            <a:off x="5120640" y="4800600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6C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C6CD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3"/>
          <p:cNvCxnSpPr/>
          <p:nvPr/>
        </p:nvCxnSpPr>
        <p:spPr>
          <a:xfrm>
            <a:off x="6126480" y="4443984"/>
            <a:ext cx="1618488" cy="0"/>
          </a:xfrm>
          <a:prstGeom prst="straightConnector1">
            <a:avLst/>
          </a:prstGeom>
          <a:noFill/>
          <a:ln cap="flat" cmpd="sng" w="19050">
            <a:solidFill>
              <a:srgbClr val="2A435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" name="Google Shape;31;p3"/>
          <p:cNvSpPr/>
          <p:nvPr/>
        </p:nvSpPr>
        <p:spPr>
          <a:xfrm>
            <a:off x="7818120" y="4160520"/>
            <a:ext cx="566928" cy="566928"/>
          </a:xfrm>
          <a:prstGeom prst="ellipse">
            <a:avLst/>
          </a:prstGeom>
          <a:solidFill>
            <a:srgbClr val="1E35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reason.png" id="32" name="Google Shape;3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1821" y="4234221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"/>
          <p:cNvSpPr txBox="1"/>
          <p:nvPr/>
        </p:nvSpPr>
        <p:spPr>
          <a:xfrm>
            <a:off x="7452360" y="4800600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6C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C6CD"/>
                </a:solidFill>
                <a:latin typeface="Calibri"/>
                <a:ea typeface="Calibri"/>
                <a:cs typeface="Calibri"/>
                <a:sym typeface="Calibri"/>
              </a:rPr>
              <a:t>Gemini Reason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29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F929C"/>
                </a:solidFill>
                <a:latin typeface="Calibri"/>
                <a:ea typeface="Calibri"/>
                <a:cs typeface="Calibri"/>
                <a:sym typeface="Calibri"/>
              </a:rPr>
              <a:t>Ramesh Muni  ·  AIOps Modernization Initiative  ·  Google Cloud Run + BigQuery + Gemini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3A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B3A4"/>
                </a:solidFill>
                <a:latin typeface="Calibri"/>
                <a:ea typeface="Calibri"/>
                <a:cs typeface="Calibri"/>
                <a:sym typeface="Calibri"/>
              </a:rPr>
              <a:t>PROJECT RECAP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The Ask, and What Was Delivered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1417320"/>
            <a:ext cx="5074920" cy="4937760"/>
          </a:xfrm>
          <a:prstGeom prst="roundRect">
            <a:avLst>
              <a:gd fmla="val 1481" name="adj"/>
            </a:avLst>
          </a:prstGeom>
          <a:solidFill>
            <a:srgbClr val="FFFF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E7F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target.png" id="44" name="Google Shape;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340" y="1757020"/>
            <a:ext cx="372161" cy="3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 txBox="1"/>
          <p:nvPr/>
        </p:nvSpPr>
        <p:spPr>
          <a:xfrm>
            <a:off x="1463040" y="16916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914400" y="2468880"/>
            <a:ext cx="4343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Host the entire assistant on Cloud 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B273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Drop FAISS as the vector store, end to 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B273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Use a Google product for embeddings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B273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Use a Google product for vector storage &amp; 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B273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Use a Google LLM for the reasoning step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355080" y="1417320"/>
            <a:ext cx="5074920" cy="4937760"/>
          </a:xfrm>
          <a:prstGeom prst="roundRect">
            <a:avLst>
              <a:gd fmla="val 1481" name="adj"/>
            </a:avLst>
          </a:prstGeom>
          <a:solidFill>
            <a:srgbClr val="F0FBF8"/>
          </a:solidFill>
          <a:ln cap="flat" cmpd="sng" w="12700">
            <a:solidFill>
              <a:srgbClr val="B7EC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629400" y="1691640"/>
            <a:ext cx="502920" cy="502920"/>
          </a:xfrm>
          <a:prstGeom prst="ellipse">
            <a:avLst/>
          </a:prstGeom>
          <a:solidFill>
            <a:srgbClr val="D3F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check.png" id="49" name="Google Shape;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4780" y="1757020"/>
            <a:ext cx="372161" cy="3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 txBox="1"/>
          <p:nvPr/>
        </p:nvSpPr>
        <p:spPr>
          <a:xfrm>
            <a:off x="7269480" y="16916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3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6B3F"/>
                </a:solidFill>
                <a:latin typeface="Calibri"/>
                <a:ea typeface="Calibri"/>
                <a:cs typeface="Calibri"/>
                <a:sym typeface="Calibri"/>
              </a:rPr>
              <a:t>Delivered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6720840" y="2468880"/>
            <a:ext cx="4343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6B3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B6B3F"/>
                </a:solidFill>
                <a:latin typeface="Calibri"/>
                <a:ea typeface="Calibri"/>
                <a:cs typeface="Calibri"/>
                <a:sym typeface="Calibri"/>
              </a:rPr>
              <a:t>Cloud Run Service (chat UI) + Cloud Run Job (corpus refresh) — only compute used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6B3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B6B3F"/>
                </a:solidFill>
                <a:latin typeface="Calibri"/>
                <a:ea typeface="Calibri"/>
                <a:cs typeface="Calibri"/>
                <a:sym typeface="Calibri"/>
              </a:rPr>
              <a:t>BigQuery VECTOR_SEARCH fully replaces FAISS; no index files, no rebuild-to-refresh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6B3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B6B3F"/>
                </a:solidFill>
                <a:latin typeface="Calibri"/>
                <a:ea typeface="Calibri"/>
                <a:cs typeface="Calibri"/>
                <a:sym typeface="Calibri"/>
              </a:rPr>
              <a:t>Gemini embedding model (gemini-embedding-2), 768-dim, per-record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6B3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B6B3F"/>
                </a:solidFill>
                <a:latin typeface="Calibri"/>
                <a:ea typeface="Calibri"/>
                <a:cs typeface="Calibri"/>
                <a:sym typeface="Calibri"/>
              </a:rPr>
              <a:t>BigQuery incident_corpus table stores every embedding as a normal column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6B3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B6B3F"/>
                </a:solidFill>
                <a:latin typeface="Calibri"/>
                <a:ea typeface="Calibri"/>
                <a:cs typeface="Calibri"/>
                <a:sym typeface="Calibri"/>
              </a:rPr>
              <a:t>Gemini reasons over the top-3 retrieved incidents to suggest root cause + fix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3A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B3A4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End-to-End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7863840" y="62179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7A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97A1"/>
                </a:solidFill>
                <a:latin typeface="Calibri"/>
                <a:ea typeface="Calibri"/>
                <a:cs typeface="Calibri"/>
                <a:sym typeface="Calibri"/>
              </a:rPr>
              <a:t>Fully Google-native · Cloud Run hosted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BUILD-TIME · CORPUS REFRESH   (Cloud Run Job: incident-refresh)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57200" y="1207008"/>
            <a:ext cx="23317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566928" y="1289304"/>
            <a:ext cx="2112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ServiceNow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566928" y="1682496"/>
            <a:ext cx="2112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Resolved incidents (state = 6)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063240" y="1207008"/>
            <a:ext cx="23317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3172968" y="1289304"/>
            <a:ext cx="2112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Fetch Corpus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3172968" y="1682496"/>
            <a:ext cx="2112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fetch_resolved_incidents.py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669280" y="1207008"/>
            <a:ext cx="2331720" cy="914400"/>
          </a:xfrm>
          <a:prstGeom prst="roundRect">
            <a:avLst>
              <a:gd fmla="val 8000" name="adj"/>
            </a:avLst>
          </a:prstGeom>
          <a:solidFill>
            <a:srgbClr val="E9FBF9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5779008" y="1289304"/>
            <a:ext cx="2112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Embed (Gemini)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5779008" y="1682496"/>
            <a:ext cx="2112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gemini-embedding-2 · 768-dim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8275320" y="1207008"/>
            <a:ext cx="2743200" cy="914400"/>
          </a:xfrm>
          <a:prstGeom prst="roundRect">
            <a:avLst>
              <a:gd fmla="val 8000" name="adj"/>
            </a:avLst>
          </a:prstGeom>
          <a:solidFill>
            <a:srgbClr val="EAF3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8385048" y="1289304"/>
            <a:ext cx="2523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BigQuery Corpus Table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8385048" y="1682496"/>
            <a:ext cx="2523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incident_corpus · WRITE_TRUNCATE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5"/>
          <p:cNvCxnSpPr/>
          <p:nvPr/>
        </p:nvCxnSpPr>
        <p:spPr>
          <a:xfrm>
            <a:off x="2788920" y="1664208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8A97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" name="Google Shape;74;p5"/>
          <p:cNvCxnSpPr/>
          <p:nvPr/>
        </p:nvCxnSpPr>
        <p:spPr>
          <a:xfrm>
            <a:off x="5394960" y="1664208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8A97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" name="Google Shape;75;p5"/>
          <p:cNvCxnSpPr/>
          <p:nvPr/>
        </p:nvCxnSpPr>
        <p:spPr>
          <a:xfrm>
            <a:off x="8001000" y="1664208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8A97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p5"/>
          <p:cNvSpPr txBox="1"/>
          <p:nvPr/>
        </p:nvSpPr>
        <p:spPr>
          <a:xfrm>
            <a:off x="457200" y="2542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QUERY-TIME · LIVE ASSISTANT   (Cloud Run Service: incident-assistant)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" y="2834640"/>
            <a:ext cx="192024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 txBox="1"/>
          <p:nvPr/>
        </p:nvSpPr>
        <p:spPr>
          <a:xfrm>
            <a:off x="566928" y="2916936"/>
            <a:ext cx="17007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New Incident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566928" y="3310128"/>
            <a:ext cx="17007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Described in chat 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2606040" y="2834640"/>
            <a:ext cx="1965960" cy="914400"/>
          </a:xfrm>
          <a:prstGeom prst="roundRect">
            <a:avLst>
              <a:gd fmla="val 8000" name="adj"/>
            </a:avLst>
          </a:prstGeom>
          <a:solidFill>
            <a:srgbClr val="E9FBF9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 txBox="1"/>
          <p:nvPr/>
        </p:nvSpPr>
        <p:spPr>
          <a:xfrm>
            <a:off x="2715768" y="2916936"/>
            <a:ext cx="17465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Embed Query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2715768" y="3310128"/>
            <a:ext cx="17465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Gemini · RETRIEVAL_QUERY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800600" y="2834640"/>
            <a:ext cx="2240280" cy="914400"/>
          </a:xfrm>
          <a:prstGeom prst="roundRect">
            <a:avLst>
              <a:gd fmla="val 8000" name="adj"/>
            </a:avLst>
          </a:prstGeom>
          <a:solidFill>
            <a:srgbClr val="EAF3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4910328" y="2916936"/>
            <a:ext cx="20208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VECTOR_SEARCH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4910328" y="3310128"/>
            <a:ext cx="20208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BigQuery · top-3 · cosine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269480" y="2834640"/>
            <a:ext cx="2057400" cy="914400"/>
          </a:xfrm>
          <a:prstGeom prst="roundRect">
            <a:avLst>
              <a:gd fmla="val 8000" name="adj"/>
            </a:avLst>
          </a:prstGeom>
          <a:solidFill>
            <a:srgbClr val="E9FBF9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 txBox="1"/>
          <p:nvPr/>
        </p:nvSpPr>
        <p:spPr>
          <a:xfrm>
            <a:off x="7379208" y="2916936"/>
            <a:ext cx="18379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Gemini Reasons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7379208" y="3310128"/>
            <a:ext cx="18379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Root cause + resolution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9555480" y="2834640"/>
            <a:ext cx="2148840" cy="914400"/>
          </a:xfrm>
          <a:prstGeom prst="roundRect">
            <a:avLst>
              <a:gd fmla="val 8000" name="adj"/>
            </a:avLst>
          </a:prstGeom>
          <a:solidFill>
            <a:srgbClr val="FFF4E5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9665208" y="2916936"/>
            <a:ext cx="1929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Human Verdict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9665208" y="3310128"/>
            <a:ext cx="1929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Confirm · correct · none apply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5"/>
          <p:cNvCxnSpPr/>
          <p:nvPr/>
        </p:nvCxnSpPr>
        <p:spPr>
          <a:xfrm>
            <a:off x="2377440" y="3291840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8A97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" name="Google Shape;93;p5"/>
          <p:cNvCxnSpPr/>
          <p:nvPr/>
        </p:nvCxnSpPr>
        <p:spPr>
          <a:xfrm>
            <a:off x="4572000" y="3291840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8A97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" name="Google Shape;94;p5"/>
          <p:cNvCxnSpPr/>
          <p:nvPr/>
        </p:nvCxnSpPr>
        <p:spPr>
          <a:xfrm>
            <a:off x="7040880" y="3291840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8A97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" name="Google Shape;95;p5"/>
          <p:cNvCxnSpPr/>
          <p:nvPr/>
        </p:nvCxnSpPr>
        <p:spPr>
          <a:xfrm>
            <a:off x="9326880" y="3291840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8A97A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" name="Google Shape;96;p5"/>
          <p:cNvCxnSpPr/>
          <p:nvPr/>
        </p:nvCxnSpPr>
        <p:spPr>
          <a:xfrm>
            <a:off x="9646920" y="2121408"/>
            <a:ext cx="0" cy="219456"/>
          </a:xfrm>
          <a:prstGeom prst="straightConnector1">
            <a:avLst/>
          </a:prstGeom>
          <a:noFill/>
          <a:ln cap="flat" cmpd="sng" w="19050">
            <a:solidFill>
              <a:srgbClr val="2E90F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5"/>
          <p:cNvCxnSpPr/>
          <p:nvPr/>
        </p:nvCxnSpPr>
        <p:spPr>
          <a:xfrm rot="10800000">
            <a:off x="5920740" y="2340864"/>
            <a:ext cx="3726180" cy="0"/>
          </a:xfrm>
          <a:prstGeom prst="straightConnector1">
            <a:avLst/>
          </a:prstGeom>
          <a:noFill/>
          <a:ln cap="flat" cmpd="sng" w="19050">
            <a:solidFill>
              <a:srgbClr val="2E90F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5"/>
          <p:cNvCxnSpPr/>
          <p:nvPr/>
        </p:nvCxnSpPr>
        <p:spPr>
          <a:xfrm>
            <a:off x="5920740" y="2340864"/>
            <a:ext cx="0" cy="493776"/>
          </a:xfrm>
          <a:prstGeom prst="straightConnector1">
            <a:avLst/>
          </a:prstGeom>
          <a:noFill/>
          <a:ln cap="flat" cmpd="sng" w="19050">
            <a:solidFill>
              <a:srgbClr val="2E90F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" name="Google Shape;99;p5"/>
          <p:cNvSpPr txBox="1"/>
          <p:nvPr/>
        </p:nvSpPr>
        <p:spPr>
          <a:xfrm>
            <a:off x="4366260" y="212140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corpus: 52 vectors, 768-dim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903720" y="4206240"/>
            <a:ext cx="2331720" cy="868680"/>
          </a:xfrm>
          <a:prstGeom prst="roundRect">
            <a:avLst>
              <a:gd fmla="val 8421" name="adj"/>
            </a:avLst>
          </a:prstGeom>
          <a:solidFill>
            <a:srgbClr val="F0FBF8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7013448" y="4288536"/>
            <a:ext cx="21122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3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6B3F"/>
                </a:solidFill>
                <a:latin typeface="Calibri"/>
                <a:ea typeface="Calibri"/>
                <a:cs typeface="Calibri"/>
                <a:sym typeface="Calibri"/>
              </a:rPr>
              <a:t>Feedback Logged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7013448" y="4681728"/>
            <a:ext cx="21122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feedback_log.jsonl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9418320" y="4206240"/>
            <a:ext cx="2286000" cy="868680"/>
          </a:xfrm>
          <a:prstGeom prst="roundRect">
            <a:avLst>
              <a:gd fmla="val 8421" name="adj"/>
            </a:avLst>
          </a:prstGeom>
          <a:solidFill>
            <a:srgbClr val="FFF4E5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 txBox="1"/>
          <p:nvPr/>
        </p:nvSpPr>
        <p:spPr>
          <a:xfrm>
            <a:off x="9528048" y="4288536"/>
            <a:ext cx="20665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4B0A"/>
                </a:solidFill>
                <a:latin typeface="Calibri"/>
                <a:ea typeface="Calibri"/>
                <a:cs typeface="Calibri"/>
                <a:sym typeface="Calibri"/>
              </a:rPr>
              <a:t>Escalated → New Ticket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9528048" y="4681728"/>
            <a:ext cx="20665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ServiceNow, state = New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5"/>
          <p:cNvCxnSpPr/>
          <p:nvPr/>
        </p:nvCxnSpPr>
        <p:spPr>
          <a:xfrm>
            <a:off x="10629900" y="3749040"/>
            <a:ext cx="0" cy="201168"/>
          </a:xfrm>
          <a:prstGeom prst="straightConnector1">
            <a:avLst/>
          </a:prstGeom>
          <a:noFill/>
          <a:ln cap="flat" cmpd="sng" w="19050">
            <a:solidFill>
              <a:srgbClr val="8A97A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5"/>
          <p:cNvCxnSpPr/>
          <p:nvPr/>
        </p:nvCxnSpPr>
        <p:spPr>
          <a:xfrm rot="10800000">
            <a:off x="8069580" y="3950208"/>
            <a:ext cx="2560320" cy="0"/>
          </a:xfrm>
          <a:prstGeom prst="straightConnector1">
            <a:avLst/>
          </a:prstGeom>
          <a:noFill/>
          <a:ln cap="flat" cmpd="sng" w="19050">
            <a:solidFill>
              <a:srgbClr val="00B3A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5"/>
          <p:cNvCxnSpPr/>
          <p:nvPr/>
        </p:nvCxnSpPr>
        <p:spPr>
          <a:xfrm>
            <a:off x="8069580" y="3950208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00B3A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" name="Google Shape;109;p5"/>
          <p:cNvCxnSpPr/>
          <p:nvPr/>
        </p:nvCxnSpPr>
        <p:spPr>
          <a:xfrm rot="10800000">
            <a:off x="10561320" y="3950208"/>
            <a:ext cx="68580" cy="0"/>
          </a:xfrm>
          <a:prstGeom prst="straightConnector1">
            <a:avLst/>
          </a:prstGeom>
          <a:noFill/>
          <a:ln cap="flat" cmpd="sng" w="19050">
            <a:solidFill>
              <a:srgbClr val="F7900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5"/>
          <p:cNvCxnSpPr/>
          <p:nvPr/>
        </p:nvCxnSpPr>
        <p:spPr>
          <a:xfrm>
            <a:off x="10561320" y="3950208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F7900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" name="Google Shape;111;p5"/>
          <p:cNvSpPr txBox="1"/>
          <p:nvPr/>
        </p:nvSpPr>
        <p:spPr>
          <a:xfrm>
            <a:off x="6606540" y="373075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94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9488"/>
                </a:solidFill>
                <a:latin typeface="Calibri"/>
                <a:ea typeface="Calibri"/>
                <a:cs typeface="Calibri"/>
                <a:sym typeface="Calibri"/>
              </a:rPr>
              <a:t>confirm / correct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10287000" y="373075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60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5560C"/>
                </a:solidFill>
                <a:latin typeface="Calibri"/>
                <a:ea typeface="Calibri"/>
                <a:cs typeface="Calibri"/>
                <a:sym typeface="Calibri"/>
              </a:rPr>
              <a:t>none apply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5"/>
          <p:cNvCxnSpPr/>
          <p:nvPr/>
        </p:nvCxnSpPr>
        <p:spPr>
          <a:xfrm>
            <a:off x="10561320" y="5074920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00948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4" name="Google Shape;114;p5"/>
          <p:cNvCxnSpPr/>
          <p:nvPr/>
        </p:nvCxnSpPr>
        <p:spPr>
          <a:xfrm rot="10800000">
            <a:off x="164592" y="5330952"/>
            <a:ext cx="10396728" cy="0"/>
          </a:xfrm>
          <a:prstGeom prst="straightConnector1">
            <a:avLst/>
          </a:prstGeom>
          <a:noFill/>
          <a:ln cap="flat" cmpd="sng" w="19050">
            <a:solidFill>
              <a:srgbClr val="00948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5" name="Google Shape;115;p5"/>
          <p:cNvCxnSpPr/>
          <p:nvPr/>
        </p:nvCxnSpPr>
        <p:spPr>
          <a:xfrm rot="10800000">
            <a:off x="164592" y="1664208"/>
            <a:ext cx="0" cy="3666744"/>
          </a:xfrm>
          <a:prstGeom prst="straightConnector1">
            <a:avLst/>
          </a:prstGeom>
          <a:noFill/>
          <a:ln cap="flat" cmpd="sng" w="19050">
            <a:solidFill>
              <a:srgbClr val="00948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6" name="Google Shape;116;p5"/>
          <p:cNvCxnSpPr/>
          <p:nvPr/>
        </p:nvCxnSpPr>
        <p:spPr>
          <a:xfrm>
            <a:off x="164592" y="166420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009488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17" name="Google Shape;117;p5"/>
          <p:cNvSpPr txBox="1"/>
          <p:nvPr/>
        </p:nvSpPr>
        <p:spPr>
          <a:xfrm>
            <a:off x="914400" y="507492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4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9488"/>
                </a:solidFill>
                <a:latin typeface="Calibri"/>
                <a:ea typeface="Calibri"/>
                <a:cs typeface="Calibri"/>
                <a:sym typeface="Calibri"/>
              </a:rPr>
              <a:t>developer resolves with RCA → feeds the next corpus refresh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3A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B3A4"/>
                </a:solidFill>
                <a:latin typeface="Calibri"/>
                <a:ea typeface="Calibri"/>
                <a:cs typeface="Calibri"/>
                <a:sym typeface="Calibri"/>
              </a:rPr>
              <a:t>COMPONENTS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Components Used, and What Each One Does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02920" y="1426464"/>
            <a:ext cx="566928" cy="566928"/>
          </a:xfrm>
          <a:prstGeom prst="ellipse">
            <a:avLst/>
          </a:prstGeom>
          <a:solidFill>
            <a:srgbClr val="E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servicenow.png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21" y="1500165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 txBox="1"/>
          <p:nvPr/>
        </p:nvSpPr>
        <p:spPr>
          <a:xfrm>
            <a:off x="1280160" y="137160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ServiceNow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1280160" y="1682496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System of record for incidents — stores resolved RCAs that seed the corpus, and receives new tickets the assistant can't confidently resolve.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02920" y="2596896"/>
            <a:ext cx="566928" cy="566928"/>
          </a:xfrm>
          <a:prstGeom prst="ellipse">
            <a:avLst/>
          </a:prstGeom>
          <a:solidFill>
            <a:srgbClr val="E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embed.png" id="130" name="Google Shape;13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621" y="2670597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1280160" y="2542032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Gemini Embeddings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1280160" y="2852928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gemini-embedding-2 turns incident text into a 768-dimension vector capturing its meaning — one call per record, paced to respect rate limits.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02920" y="3767328"/>
            <a:ext cx="566928" cy="566928"/>
          </a:xfrm>
          <a:prstGeom prst="ellipse">
            <a:avLst/>
          </a:prstGeom>
          <a:solidFill>
            <a:srgbClr val="E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bigquery.png" id="134" name="Google Shape;13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621" y="384102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1280160" y="3712464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BigQuery + VECTOR_SEARCH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1280160" y="4023360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Stores every embedding as a table column and finds the closest matches by cosine similarity — a full, serverless replacement for FAISS.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02920" y="4937760"/>
            <a:ext cx="566928" cy="566928"/>
          </a:xfrm>
          <a:prstGeom prst="ellipse">
            <a:avLst/>
          </a:prstGeom>
          <a:solidFill>
            <a:srgbClr val="E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reason.png" id="138" name="Google Shape;13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621" y="5011461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1280160" y="4882896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Gemini (LLM Reasoning)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1280160" y="5193792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Reads the new incident plus the top-3 retrieved cases and suggests the most likely root cause and resolution in plain language.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172200" y="1426464"/>
            <a:ext cx="566928" cy="566928"/>
          </a:xfrm>
          <a:prstGeom prst="ellipse">
            <a:avLst/>
          </a:prstGeom>
          <a:solidFill>
            <a:srgbClr val="E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cloudrun.png" id="142" name="Google Shape;14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5901" y="1500165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/>
        </p:nvSpPr>
        <p:spPr>
          <a:xfrm>
            <a:off x="6949440" y="137160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Cloud Run Service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6949440" y="1682496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Hosts the always-on Flask web app and chat UI end users interact with — the incident-assistant service.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172200" y="2596896"/>
            <a:ext cx="566928" cy="566928"/>
          </a:xfrm>
          <a:prstGeom prst="ellipse">
            <a:avLst/>
          </a:prstGeom>
          <a:solidFill>
            <a:srgbClr val="E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job.png" id="146" name="Google Shape;14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45901" y="2670597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/>
          <p:nvPr/>
        </p:nvSpPr>
        <p:spPr>
          <a:xfrm>
            <a:off x="6949440" y="2542032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Cloud Run Job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6949440" y="2852928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Runs the corpus refresh on demand: re-fetches resolved incidents and rebuilds the BigQuery table — the incident-refresh job.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172200" y="3767328"/>
            <a:ext cx="566928" cy="566928"/>
          </a:xfrm>
          <a:prstGeom prst="ellipse">
            <a:avLst/>
          </a:prstGeom>
          <a:solidFill>
            <a:srgbClr val="E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lock.png" id="150" name="Google Shape;150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45901" y="384102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/>
          <p:nvPr/>
        </p:nvSpPr>
        <p:spPr>
          <a:xfrm>
            <a:off x="6949440" y="3712464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Secret Manager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6949440" y="4023360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Stores ServiceNow credentials and the Gemini API key securely, injected into Cloud Run at deploy time — never baked into the image.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172200" y="4937760"/>
            <a:ext cx="566928" cy="566928"/>
          </a:xfrm>
          <a:prstGeom prst="ellipse">
            <a:avLst/>
          </a:prstGeom>
          <a:solidFill>
            <a:srgbClr val="E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human.png" id="154" name="Google Shape;154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45901" y="5011461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 txBox="1"/>
          <p:nvPr/>
        </p:nvSpPr>
        <p:spPr>
          <a:xfrm>
            <a:off x="6949440" y="4882896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Human-in-the-Loop UI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6949440" y="5193792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Every AI suggestion is confirmed, corrected, or escalated by a person before it's treated as final — nothing auto-applies.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3A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B3A4"/>
                </a:solidFill>
                <a:latin typeface="Calibri"/>
                <a:ea typeface="Calibri"/>
                <a:cs typeface="Calibri"/>
                <a:sym typeface="Calibri"/>
              </a:rPr>
              <a:t>HOW A QUERY ACTUALLY RUNS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From New Incident to Verified Answer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02920" y="2377440"/>
            <a:ext cx="868680" cy="868680"/>
          </a:xfrm>
          <a:prstGeom prst="ellipse">
            <a:avLst/>
          </a:prstGeom>
          <a:solidFill>
            <a:srgbClr val="1628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502920" y="23774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0" y="3410712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Incident described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0" y="390448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Typed into the chat UI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7"/>
          <p:cNvCxnSpPr/>
          <p:nvPr/>
        </p:nvCxnSpPr>
        <p:spPr>
          <a:xfrm>
            <a:off x="1399032" y="2811780"/>
            <a:ext cx="1133856" cy="0"/>
          </a:xfrm>
          <a:prstGeom prst="straightConnector1">
            <a:avLst/>
          </a:prstGeom>
          <a:noFill/>
          <a:ln cap="flat" cmpd="sng" w="22225">
            <a:solidFill>
              <a:srgbClr val="8A97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" name="Google Shape;169;p7"/>
          <p:cNvSpPr/>
          <p:nvPr/>
        </p:nvSpPr>
        <p:spPr>
          <a:xfrm>
            <a:off x="2560320" y="2377440"/>
            <a:ext cx="868680" cy="868680"/>
          </a:xfrm>
          <a:prstGeom prst="ellipse">
            <a:avLst/>
          </a:prstGeom>
          <a:solidFill>
            <a:srgbClr val="1628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2560320" y="23774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2057400" y="3410712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Embedded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2057400" y="390448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Gemini turns it into a vector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7"/>
          <p:cNvCxnSpPr/>
          <p:nvPr/>
        </p:nvCxnSpPr>
        <p:spPr>
          <a:xfrm>
            <a:off x="3456432" y="2811780"/>
            <a:ext cx="1133856" cy="0"/>
          </a:xfrm>
          <a:prstGeom prst="straightConnector1">
            <a:avLst/>
          </a:prstGeom>
          <a:noFill/>
          <a:ln cap="flat" cmpd="sng" w="22225">
            <a:solidFill>
              <a:srgbClr val="8A97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4" name="Google Shape;174;p7"/>
          <p:cNvSpPr/>
          <p:nvPr/>
        </p:nvSpPr>
        <p:spPr>
          <a:xfrm>
            <a:off x="4617720" y="2377440"/>
            <a:ext cx="868680" cy="868680"/>
          </a:xfrm>
          <a:prstGeom prst="ellipse">
            <a:avLst/>
          </a:prstGeom>
          <a:solidFill>
            <a:srgbClr val="1628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4617720" y="23774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4114800" y="3410712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Top-3 retrieved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4114800" y="390448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BigQuery VECTOR_SEARCH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7"/>
          <p:cNvCxnSpPr/>
          <p:nvPr/>
        </p:nvCxnSpPr>
        <p:spPr>
          <a:xfrm>
            <a:off x="5513832" y="2811780"/>
            <a:ext cx="1133856" cy="0"/>
          </a:xfrm>
          <a:prstGeom prst="straightConnector1">
            <a:avLst/>
          </a:prstGeom>
          <a:noFill/>
          <a:ln cap="flat" cmpd="sng" w="22225">
            <a:solidFill>
              <a:srgbClr val="8A97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" name="Google Shape;179;p7"/>
          <p:cNvSpPr/>
          <p:nvPr/>
        </p:nvSpPr>
        <p:spPr>
          <a:xfrm>
            <a:off x="6675120" y="2377440"/>
            <a:ext cx="868680" cy="868680"/>
          </a:xfrm>
          <a:prstGeom prst="ellipse">
            <a:avLst/>
          </a:prstGeom>
          <a:solidFill>
            <a:srgbClr val="1628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6675120" y="23774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6172200" y="3410712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Root cause suggested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6172200" y="390448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Gemini reasons over matches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7"/>
          <p:cNvCxnSpPr/>
          <p:nvPr/>
        </p:nvCxnSpPr>
        <p:spPr>
          <a:xfrm>
            <a:off x="7571232" y="2811780"/>
            <a:ext cx="1133856" cy="0"/>
          </a:xfrm>
          <a:prstGeom prst="straightConnector1">
            <a:avLst/>
          </a:prstGeom>
          <a:noFill/>
          <a:ln cap="flat" cmpd="sng" w="22225">
            <a:solidFill>
              <a:srgbClr val="8A97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" name="Google Shape;184;p7"/>
          <p:cNvSpPr/>
          <p:nvPr/>
        </p:nvSpPr>
        <p:spPr>
          <a:xfrm>
            <a:off x="8732520" y="2377440"/>
            <a:ext cx="868680" cy="868680"/>
          </a:xfrm>
          <a:prstGeom prst="ellipse">
            <a:avLst/>
          </a:prstGeom>
          <a:solidFill>
            <a:srgbClr val="F790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8732520" y="23774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8229600" y="3410712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Human verifies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8229600" y="390448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Confirm, correct, or reject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7"/>
          <p:cNvCxnSpPr/>
          <p:nvPr/>
        </p:nvCxnSpPr>
        <p:spPr>
          <a:xfrm>
            <a:off x="9628632" y="2811780"/>
            <a:ext cx="1133856" cy="0"/>
          </a:xfrm>
          <a:prstGeom prst="straightConnector1">
            <a:avLst/>
          </a:prstGeom>
          <a:noFill/>
          <a:ln cap="flat" cmpd="sng" w="22225">
            <a:solidFill>
              <a:srgbClr val="8A97A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" name="Google Shape;189;p7"/>
          <p:cNvSpPr/>
          <p:nvPr/>
        </p:nvSpPr>
        <p:spPr>
          <a:xfrm>
            <a:off x="10789920" y="2377440"/>
            <a:ext cx="868680" cy="868680"/>
          </a:xfrm>
          <a:prstGeom prst="ellipse">
            <a:avLst/>
          </a:prstGeom>
          <a:solidFill>
            <a:srgbClr val="00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 txBox="1"/>
          <p:nvPr/>
        </p:nvSpPr>
        <p:spPr>
          <a:xfrm>
            <a:off x="10789920" y="23774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10287000" y="3410712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Logged or escalated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10287000" y="390448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Feedback saved / new ticket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fmla="val 6957" name="adj"/>
            </a:avLst>
          </a:prstGeom>
          <a:solidFill>
            <a:srgbClr val="FFF8EC"/>
          </a:solidFill>
          <a:ln cap="flat" cmpd="sng" w="12700">
            <a:solidFill>
              <a:srgbClr val="E2A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 txBox="1"/>
          <p:nvPr/>
        </p:nvSpPr>
        <p:spPr>
          <a:xfrm>
            <a:off x="777240" y="5120640"/>
            <a:ext cx="10607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4B0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A4B0A"/>
                </a:solidFill>
                <a:latin typeface="Calibri"/>
                <a:ea typeface="Calibri"/>
                <a:cs typeface="Calibri"/>
                <a:sym typeface="Calibri"/>
              </a:rPr>
              <a:t>Nothing is auto-applied. </a:t>
            </a:r>
            <a:r>
              <a:rPr b="0" i="0" lang="en-US" sz="1250" u="none" cap="none" strike="noStrike">
                <a:solidFill>
                  <a:srgbClr val="8A4B0A"/>
                </a:solidFill>
                <a:latin typeface="Calibri"/>
                <a:ea typeface="Calibri"/>
                <a:cs typeface="Calibri"/>
                <a:sym typeface="Calibri"/>
              </a:rPr>
              <a:t>A person always makes the final call — that's the design, not a gap: retrieval and reasoning narrow 50+ past incidents down to one good suggestion, but a human confirms it before it counts.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3A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B3A4"/>
                </a:solidFill>
                <a:latin typeface="Calibri"/>
                <a:ea typeface="Calibri"/>
                <a:cs typeface="Calibri"/>
                <a:sym typeface="Calibri"/>
              </a:rPr>
              <a:t>ALONG THE WAY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Real Engineering Problems, Actually Solved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02920" y="141732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758952" y="1673352"/>
            <a:ext cx="530352" cy="530352"/>
          </a:xfrm>
          <a:prstGeom prst="ellipse">
            <a:avLst/>
          </a:prstGeom>
          <a:solidFill>
            <a:srgbClr val="F0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clock.png" id="204" name="Google Shape;2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898" y="1742298"/>
            <a:ext cx="392460" cy="39246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/>
        </p:nvSpPr>
        <p:spPr>
          <a:xfrm>
            <a:off x="1463040" y="1673352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429 Rate Limits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777240" y="2331720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Bulk embedding calls tripped Gemini's rate limit. Fixed with a per-record pace (~1.5s apart) plus exponential-backoff retries.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217920" y="141732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6473952" y="1673352"/>
            <a:ext cx="530352" cy="530352"/>
          </a:xfrm>
          <a:prstGeom prst="ellipse">
            <a:avLst/>
          </a:prstGeom>
          <a:solidFill>
            <a:srgbClr val="F0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bug.png" id="209" name="Google Shape;20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2898" y="1742298"/>
            <a:ext cx="392460" cy="392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 txBox="1"/>
          <p:nvPr/>
        </p:nvSpPr>
        <p:spPr>
          <a:xfrm>
            <a:off x="7178040" y="1673352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Silent Batch Failures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6492240" y="2331720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Batching many texts into one embed_content() call returned empty vectors for almost every record — no error raised. Fixed by embedding one record per call.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02920" y="402336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758952" y="4279392"/>
            <a:ext cx="530352" cy="530352"/>
          </a:xfrm>
          <a:prstGeom prst="ellipse">
            <a:avLst/>
          </a:prstGeom>
          <a:solidFill>
            <a:srgbClr val="F0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target.png" id="214" name="Google Shape;21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898" y="4348338"/>
            <a:ext cx="392460" cy="392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 txBox="1"/>
          <p:nvPr/>
        </p:nvSpPr>
        <p:spPr>
          <a:xfrm>
            <a:off x="1463040" y="4279392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The Stale-Data Illusion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777240" y="4937760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Querying BigQuery before a refresh job actually finished kept showing old results. Fixed by always confirming the job execution reports Succeeded first.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217920" y="402336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6473952" y="4279392"/>
            <a:ext cx="530352" cy="530352"/>
          </a:xfrm>
          <a:prstGeom prst="ellipse">
            <a:avLst/>
          </a:prstGeom>
          <a:solidFill>
            <a:srgbClr val="F0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dedupe.png" id="219" name="Google Shape;21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2898" y="4348338"/>
            <a:ext cx="392460" cy="39246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"/>
          <p:cNvSpPr txBox="1"/>
          <p:nvPr/>
        </p:nvSpPr>
        <p:spPr>
          <a:xfrm>
            <a:off x="7178040" y="4279392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Duplicate Seed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6492240" y="4937760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Re-running the seed script with no idempotency guard silently doubled every incident. Built an audit + de-dupe pass — corpus now holds exactly 52 unique records.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6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3A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B3A4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The Corpus Stands Today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48640" y="1600200"/>
            <a:ext cx="2606040" cy="2103120"/>
          </a:xfrm>
          <a:prstGeom prst="roundRect">
            <a:avLst>
              <a:gd fmla="val 4348" name="adj"/>
            </a:avLst>
          </a:prstGeom>
          <a:solidFill>
            <a:srgbClr val="162835"/>
          </a:solidFill>
          <a:ln cap="flat" cmpd="sng" w="12700">
            <a:solidFill>
              <a:srgbClr val="2A4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548640" y="182880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3A4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0B3A4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685800" y="29260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4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4E2"/>
                </a:solidFill>
                <a:latin typeface="Calibri"/>
                <a:ea typeface="Calibri"/>
                <a:cs typeface="Calibri"/>
                <a:sym typeface="Calibri"/>
              </a:rPr>
              <a:t>Unique resolved incidents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383280" y="1600200"/>
            <a:ext cx="2606040" cy="2103120"/>
          </a:xfrm>
          <a:prstGeom prst="roundRect">
            <a:avLst>
              <a:gd fmla="val 4348" name="adj"/>
            </a:avLst>
          </a:prstGeom>
          <a:solidFill>
            <a:srgbClr val="162835"/>
          </a:solidFill>
          <a:ln cap="flat" cmpd="sng" w="12700">
            <a:solidFill>
              <a:srgbClr val="2A4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3383280" y="182880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768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3520440" y="29260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4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4E2"/>
                </a:solidFill>
                <a:latin typeface="Calibri"/>
                <a:ea typeface="Calibri"/>
                <a:cs typeface="Calibri"/>
                <a:sym typeface="Calibri"/>
              </a:rPr>
              <a:t>Embedding dimensions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217920" y="1600200"/>
            <a:ext cx="2606040" cy="2103120"/>
          </a:xfrm>
          <a:prstGeom prst="roundRect">
            <a:avLst>
              <a:gd fmla="val 4348" name="adj"/>
            </a:avLst>
          </a:prstGeom>
          <a:solidFill>
            <a:srgbClr val="162835"/>
          </a:solidFill>
          <a:ln cap="flat" cmpd="sng" w="12700">
            <a:solidFill>
              <a:srgbClr val="2A4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6217920" y="182880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9009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79009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6355080" y="29260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4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4E2"/>
                </a:solidFill>
                <a:latin typeface="Calibri"/>
                <a:ea typeface="Calibri"/>
                <a:cs typeface="Calibri"/>
                <a:sym typeface="Calibri"/>
              </a:rPr>
              <a:t>Google-native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9052560" y="1600200"/>
            <a:ext cx="2606040" cy="2103120"/>
          </a:xfrm>
          <a:prstGeom prst="roundRect">
            <a:avLst>
              <a:gd fmla="val 4348" name="adj"/>
            </a:avLst>
          </a:prstGeom>
          <a:solidFill>
            <a:srgbClr val="162835"/>
          </a:solidFill>
          <a:ln cap="flat" cmpd="sng" w="12700">
            <a:solidFill>
              <a:srgbClr val="2A4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9052560" y="182880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B76A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2B76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9189720" y="29260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4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4E2"/>
                </a:solidFill>
                <a:latin typeface="Calibri"/>
                <a:ea typeface="Calibri"/>
                <a:cs typeface="Calibri"/>
                <a:sym typeface="Calibri"/>
              </a:rPr>
              <a:t>Duplicate records remaining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548640" y="4114800"/>
            <a:ext cx="11064240" cy="1417320"/>
          </a:xfrm>
          <a:prstGeom prst="roundRect">
            <a:avLst>
              <a:gd fmla="val 5161" name="adj"/>
            </a:avLst>
          </a:prstGeom>
          <a:solidFill>
            <a:srgbClr val="1E35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822960" y="4114800"/>
            <a:ext cx="10515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 and reasoning both check out on live test queries.  </a:t>
            </a:r>
            <a:r>
              <a:rPr b="0" i="0" lang="en-US" sz="1400" u="none" cap="none" strike="noStrike">
                <a:solidFill>
                  <a:srgbClr val="CFE4E2"/>
                </a:solidFill>
                <a:latin typeface="Calibri"/>
                <a:ea typeface="Calibri"/>
                <a:cs typeface="Calibri"/>
                <a:sym typeface="Calibri"/>
              </a:rPr>
              <a:t>Duplicate matches (the same incident surfacing twice) are gone, and Gemini's suggested root cause has matched the correct past incident without needing a human correction.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29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7F929C"/>
                </a:solidFill>
                <a:latin typeface="Calibri"/>
                <a:ea typeface="Calibri"/>
                <a:cs typeface="Calibri"/>
                <a:sym typeface="Calibri"/>
              </a:rPr>
              <a:t>From 102 records with 50 exact duplicates → 52 clean, unique, fully-embedded incidents.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3A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B3A4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Roadmap From Here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rgbClr val="E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road.png" id="252" name="Google Shape;2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907" y="158602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0"/>
          <p:cNvSpPr txBox="1"/>
          <p:nvPr/>
        </p:nvSpPr>
        <p:spPr>
          <a:xfrm>
            <a:off x="1417320" y="141732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Surface priority end-to-end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1417320" y="180136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Currently fetched from ServiceNow but dropped before it reaches the corpus or UI — a quick, contained fix.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0"/>
          <p:cNvCxnSpPr/>
          <p:nvPr/>
        </p:nvCxnSpPr>
        <p:spPr>
          <a:xfrm>
            <a:off x="548640" y="2478024"/>
            <a:ext cx="10744200" cy="0"/>
          </a:xfrm>
          <a:prstGeom prst="straightConnector1">
            <a:avLst/>
          </a:prstGeom>
          <a:noFill/>
          <a:ln cap="flat" cmpd="sng" w="9525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0"/>
          <p:cNvSpPr/>
          <p:nvPr/>
        </p:nvSpPr>
        <p:spPr>
          <a:xfrm>
            <a:off x="548640" y="2679192"/>
            <a:ext cx="594360" cy="594360"/>
          </a:xfrm>
          <a:prstGeom prst="ellipse">
            <a:avLst/>
          </a:prstGeom>
          <a:solidFill>
            <a:srgbClr val="E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job.png" id="257" name="Google Shape;25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907" y="2756459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0"/>
          <p:cNvSpPr txBox="1"/>
          <p:nvPr/>
        </p:nvSpPr>
        <p:spPr>
          <a:xfrm>
            <a:off x="1417320" y="258775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Schedule automatic refresh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1417320" y="297180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Move from a manually-triggered Cloud Run Job to a Cloud Scheduler-driven refresh on a regular cadence.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10"/>
          <p:cNvCxnSpPr/>
          <p:nvPr/>
        </p:nvCxnSpPr>
        <p:spPr>
          <a:xfrm>
            <a:off x="548640" y="3648456"/>
            <a:ext cx="10744200" cy="0"/>
          </a:xfrm>
          <a:prstGeom prst="straightConnector1">
            <a:avLst/>
          </a:prstGeom>
          <a:noFill/>
          <a:ln cap="flat" cmpd="sng" w="9525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0"/>
          <p:cNvSpPr/>
          <p:nvPr/>
        </p:nvSpPr>
        <p:spPr>
          <a:xfrm>
            <a:off x="548640" y="3849624"/>
            <a:ext cx="594360" cy="594360"/>
          </a:xfrm>
          <a:prstGeom prst="ellipse">
            <a:avLst/>
          </a:prstGeom>
          <a:solidFill>
            <a:srgbClr val="E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chart.png" id="262" name="Google Shape;26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907" y="3926891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0"/>
          <p:cNvSpPr txBox="1"/>
          <p:nvPr/>
        </p:nvSpPr>
        <p:spPr>
          <a:xfrm>
            <a:off x="1417320" y="3758184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Grow the corpus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1417320" y="41422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As more real incidents get resolved in ServiceNow with proper RCA notes, retrieval quality keeps improving.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10"/>
          <p:cNvCxnSpPr/>
          <p:nvPr/>
        </p:nvCxnSpPr>
        <p:spPr>
          <a:xfrm>
            <a:off x="548640" y="4818888"/>
            <a:ext cx="10744200" cy="0"/>
          </a:xfrm>
          <a:prstGeom prst="straightConnector1">
            <a:avLst/>
          </a:prstGeom>
          <a:noFill/>
          <a:ln cap="flat" cmpd="sng" w="9525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10"/>
          <p:cNvSpPr/>
          <p:nvPr/>
        </p:nvSpPr>
        <p:spPr>
          <a:xfrm>
            <a:off x="548640" y="5020056"/>
            <a:ext cx="594360" cy="594360"/>
          </a:xfrm>
          <a:prstGeom prst="ellipse">
            <a:avLst/>
          </a:prstGeom>
          <a:solidFill>
            <a:srgbClr val="E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aiops_plan/deck/icons/shield.png" id="267" name="Google Shape;26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907" y="5097323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0"/>
          <p:cNvSpPr txBox="1"/>
          <p:nvPr/>
        </p:nvSpPr>
        <p:spPr>
          <a:xfrm>
            <a:off x="1417320" y="4928616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Human-on-the-loop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 txBox="1"/>
          <p:nvPr/>
        </p:nvSpPr>
        <p:spPr>
          <a:xfrm>
            <a:off x="1417320" y="5312664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36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36E"/>
                </a:solidFill>
                <a:latin typeface="Calibri"/>
                <a:ea typeface="Calibri"/>
                <a:cs typeface="Calibri"/>
                <a:sym typeface="Calibri"/>
              </a:rPr>
              <a:t>As feedback_log.jsonl accumulates verified judgments, move from confirming every answer to spot-checking high-confidence ones.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6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 txBox="1"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4E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E4E2"/>
                </a:solidFill>
                <a:latin typeface="Calibri"/>
                <a:ea typeface="Calibri"/>
                <a:cs typeface="Calibri"/>
                <a:sym typeface="Calibri"/>
              </a:rPr>
              <a:t>Questions, feedback, and ideas for what the assistant should tackle next are all welcome.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29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F929C"/>
                </a:solidFill>
                <a:latin typeface="Calibri"/>
                <a:ea typeface="Calibri"/>
                <a:cs typeface="Calibri"/>
                <a:sym typeface="Calibri"/>
              </a:rPr>
              <a:t>Ramesh Muni  ·  AIOps Modernization Initiative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