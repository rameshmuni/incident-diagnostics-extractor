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4846320"/>
            <a:ext cx="2377440" cy="2377440"/>
          </a:xfrm>
          <a:prstGeom prst="ellipse">
            <a:avLst/>
          </a:prstGeom>
          <a:solidFill>
            <a:srgbClr val="2C6E8E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5394960"/>
            <a:ext cx="1554480" cy="1554480"/>
          </a:xfrm>
          <a:prstGeom prst="ellipse">
            <a:avLst/>
          </a:prstGeom>
          <a:solidFill>
            <a:srgbClr val="2C6E8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5806440"/>
            <a:ext cx="914400" cy="914400"/>
          </a:xfrm>
          <a:prstGeom prst="ellipse">
            <a:avLst/>
          </a:prstGeom>
          <a:solidFill>
            <a:srgbClr val="F2994A">
              <a:alpha val="5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0" y="233172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RPA Copilot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33756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BB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Incident Diagnosis &amp; Remediation for RPA Operations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0" y="397764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spc="1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·  USE CASE  ·  BENEFITS  ·  TIME SAVINGS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B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 Operations  ·  Internal Proof of Concept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 Today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0"/>
            <a:ext cx="5760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incident still starts the same way: an analyst reads the ticket, then manually searches old tickets or asks a teammate what fixed something similar before settling on a root cause.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697480"/>
            <a:ext cx="5760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single, searchable source of truth for “what actually fixed this last time” — so diagnosis quality depends on who happens to pick up the ticket.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840480"/>
            <a:ext cx="5760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is measured today, so there is no agreed baseline for how long triage actually takes — only a sense that it is slower than it should be.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29400" y="1554480"/>
            <a:ext cx="5074920" cy="3063240"/>
          </a:xfrm>
          <a:prstGeom prst="roundRect">
            <a:avLst>
              <a:gd name="adj" fmla="val 3582"/>
            </a:avLst>
          </a:prstGeom>
          <a:solidFill>
            <a:srgbClr val="EDF2F7"/>
          </a:solidFill>
          <a:ln w="12700">
            <a:solidFill>
              <a:srgbClr val="2C6E8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29400" y="1874520"/>
            <a:ext cx="5074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10–15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324612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per day, today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370332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...and growing, as more processes get automated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RPA Copilot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691640"/>
            <a:ext cx="2377440" cy="3154680"/>
          </a:xfrm>
          <a:prstGeom prst="roundRect">
            <a:avLst>
              <a:gd name="adj" fmla="val 3846"/>
            </a:avLst>
          </a:prstGeom>
          <a:solidFill>
            <a:srgbClr val="EDF2F7"/>
          </a:solidFill>
          <a:ln w="12700">
            <a:solidFill>
              <a:srgbClr val="2C6E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48740" y="1965960"/>
            <a:ext cx="594360" cy="594360"/>
          </a:xfrm>
          <a:prstGeom prst="ellipse">
            <a:avLst/>
          </a:prstGeom>
          <a:solidFill>
            <a:srgbClr val="2C6E8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48740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00400"/>
            <a:ext cx="20116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incident in plain language, in chat — no special syntax needed.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27889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91840" y="1691640"/>
            <a:ext cx="2377440" cy="3154680"/>
          </a:xfrm>
          <a:prstGeom prst="roundRect">
            <a:avLst>
              <a:gd name="adj" fmla="val 3846"/>
            </a:avLst>
          </a:prstGeom>
          <a:solidFill>
            <a:srgbClr val="EDF2F7"/>
          </a:solidFill>
          <a:ln w="12700">
            <a:solidFill>
              <a:srgbClr val="2C6E8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83380" y="1965960"/>
            <a:ext cx="594360" cy="594360"/>
          </a:xfrm>
          <a:prstGeom prst="ellipse">
            <a:avLst/>
          </a:prstGeom>
          <a:solidFill>
            <a:srgbClr val="2C6E8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183380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27432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3200400"/>
            <a:ext cx="20116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matched against real resolved incidents, with a suggested root cause.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27889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126480" y="1691640"/>
            <a:ext cx="2377440" cy="3154680"/>
          </a:xfrm>
          <a:prstGeom prst="roundRect">
            <a:avLst>
              <a:gd name="adj" fmla="val 3846"/>
            </a:avLst>
          </a:prstGeom>
          <a:solidFill>
            <a:srgbClr val="EDF2F7"/>
          </a:solidFill>
          <a:ln w="12700">
            <a:solidFill>
              <a:srgbClr val="2C6E8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18020" y="1965960"/>
            <a:ext cx="594360" cy="594360"/>
          </a:xfrm>
          <a:prstGeom prst="ellipse">
            <a:avLst/>
          </a:prstGeom>
          <a:solidFill>
            <a:srgbClr val="2C6E8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018020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7432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3200400"/>
            <a:ext cx="20116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confirms, corrects, or rejects the suggestion — nothing is assumed.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27889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961120" y="1691640"/>
            <a:ext cx="2377440" cy="3154680"/>
          </a:xfrm>
          <a:prstGeom prst="roundRect">
            <a:avLst>
              <a:gd name="adj" fmla="val 3846"/>
            </a:avLst>
          </a:prstGeom>
          <a:solidFill>
            <a:srgbClr val="EDF2F7"/>
          </a:solidFill>
          <a:ln w="12700">
            <a:solidFill>
              <a:srgbClr val="2C6E8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52660" y="1965960"/>
            <a:ext cx="594360" cy="594360"/>
          </a:xfrm>
          <a:prstGeom prst="ellipse">
            <a:avLst/>
          </a:prstGeom>
          <a:solidFill>
            <a:srgbClr val="2C6E8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852660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9052560" y="27432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0" y="3200400"/>
            <a:ext cx="20116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known issues, approve-and-run executes the real fix and closes the ticket.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50749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separate apps enforce this: the chat app can only ask for a fix — only the Console, and only a person, can approve one actually running.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102A4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E1EAF2"/>
          </a:solidFill>
          <a:ln w="12700">
            <a:solidFill>
              <a:srgbClr val="2C6E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1783080"/>
            <a:ext cx="21854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Described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1783080"/>
            <a:ext cx="4754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64408" y="178308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E1EAF2"/>
          </a:solidFill>
          <a:ln w="12700">
            <a:solidFill>
              <a:srgbClr val="2C6E8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37560" y="1783080"/>
            <a:ext cx="21854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Embedding +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Vector Search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596128" y="1783080"/>
            <a:ext cx="4754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71616" y="178308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E1EAF2"/>
          </a:solidFill>
          <a:ln w="12700">
            <a:solidFill>
              <a:srgbClr val="2C6E8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44768" y="1783080"/>
            <a:ext cx="21854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Root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&amp; Resolution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403336" y="1783080"/>
            <a:ext cx="4754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878824" y="178308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E1EAF2"/>
          </a:solidFill>
          <a:ln w="12700">
            <a:solidFill>
              <a:srgbClr val="2C6E8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51976" y="1783080"/>
            <a:ext cx="21854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Verdict: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/ Correct / Reject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743200"/>
            <a:ext cx="10753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/ Corrected → logged as feedback          |          None of these apply → new ServiceNow incident (state: New)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37560"/>
            <a:ext cx="2743200" cy="365760"/>
          </a:xfrm>
          <a:prstGeom prst="roundRect">
            <a:avLst>
              <a:gd name="adj" fmla="val 15000"/>
            </a:avLst>
          </a:prstGeom>
          <a:solidFill>
            <a:srgbClr val="2C6E8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" y="3337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KNOWN ISSUES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E1EAF2"/>
          </a:solidFill>
          <a:ln w="12700">
            <a:solidFill>
              <a:srgbClr val="2C6E8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2064" y="3931920"/>
            <a:ext cx="18105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377440" y="3931920"/>
            <a:ext cx="2880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665476" y="393192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E1EAF2"/>
          </a:solidFill>
          <a:ln w="12700">
            <a:solidFill>
              <a:srgbClr val="2C6E8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720340" y="3931920"/>
            <a:ext cx="18105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Known-Fix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Match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585716" y="3931920"/>
            <a:ext cx="2880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73752" y="393192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E1EAF2"/>
          </a:solidFill>
          <a:ln w="12700">
            <a:solidFill>
              <a:srgbClr val="2C6E8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928616" y="3931920"/>
            <a:ext cx="18105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Ticket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(ServiceNow)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793992" y="3931920"/>
            <a:ext cx="2880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082028" y="393192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E1EAF2"/>
          </a:solidFill>
          <a:ln w="12700">
            <a:solidFill>
              <a:srgbClr val="2C6E8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36892" y="3931920"/>
            <a:ext cx="18105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Console: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&amp; Run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002268" y="3931920"/>
            <a:ext cx="2880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290304" y="393192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E1EAF2"/>
          </a:solidFill>
          <a:ln w="12700">
            <a:solidFill>
              <a:srgbClr val="2C6E8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345168" y="3931920"/>
            <a:ext cx="18105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Executes +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Resolved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983480"/>
            <a:ext cx="10753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Corpus automatically refreshed with the newly resolved incident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5669280"/>
            <a:ext cx="10753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C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is the system of record for both lanes   ·   BigQuery + Gemini form the retrieval &amp; reasoning layer underneath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600200"/>
            <a:ext cx="640080" cy="640080"/>
          </a:xfrm>
          <a:prstGeom prst="ellipse">
            <a:avLst/>
          </a:prstGeom>
          <a:solidFill>
            <a:srgbClr val="2C6E8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5087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triage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150876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to surface a likely cause, instead of manual ticket archaeology.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532888"/>
            <a:ext cx="640080" cy="640080"/>
          </a:xfrm>
          <a:prstGeom prst="ellipse">
            <a:avLst/>
          </a:prstGeom>
          <a:solidFill>
            <a:srgbClr val="2C6E8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5328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441448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diagnosis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441448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suggestion is grounded in your own resolved-incident history, not guesswork.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465576"/>
            <a:ext cx="640080" cy="640080"/>
          </a:xfrm>
          <a:prstGeom prst="ellipse">
            <a:avLst/>
          </a:prstGeom>
          <a:solidFill>
            <a:srgbClr val="2C6E8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34655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374136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stays in control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374136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auto-resolves without a person confirming or approving it first.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398264"/>
            <a:ext cx="640080" cy="640080"/>
          </a:xfrm>
          <a:prstGeom prst="ellipse">
            <a:avLst/>
          </a:prstGeom>
          <a:solidFill>
            <a:srgbClr val="2C6E8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439826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306824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smarter over time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4306824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confirmed, corrected, or newly resolved incident strengthens future matches.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5330952"/>
            <a:ext cx="640080" cy="640080"/>
          </a:xfrm>
          <a:prstGeom prst="ellipse">
            <a:avLst/>
          </a:prstGeom>
          <a:solidFill>
            <a:srgbClr val="2C6E8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53309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5239512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without more headcount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5239512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today's 10–15 incidents a day — and more — without growing the team.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 Time Savings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starting model based on typical RPA triage times — calibrate with your own team's actuals.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120640" cy="2834640"/>
          </a:xfrm>
          <a:prstGeom prst="roundRect">
            <a:avLst>
              <a:gd name="adj" fmla="val 3226"/>
            </a:avLst>
          </a:prstGeom>
          <a:solidFill>
            <a:srgbClr val="EDF2F7"/>
          </a:solidFill>
          <a:ln w="12700">
            <a:solidFill>
              <a:srgbClr val="2C6E8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874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MANUAL DIAGNOSIS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4028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 min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017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incident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4290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10–15 incidents / day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8404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3.3–5.0 hrs / day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153912" y="1691640"/>
            <a:ext cx="5120640" cy="2834640"/>
          </a:xfrm>
          <a:prstGeom prst="roundRect">
            <a:avLst>
              <a:gd name="adj" fmla="val 3226"/>
            </a:avLst>
          </a:prstGeom>
          <a:solidFill>
            <a:srgbClr val="EDF2F7"/>
          </a:solidFill>
          <a:ln w="12700">
            <a:solidFill>
              <a:srgbClr val="2C6E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53912" y="1874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RPA COPILOT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153912" y="224028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 min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153912" y="3017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incident (review + confirm)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153912" y="34290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10–15 incidents / day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153912" y="38404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0.7–1.0 hr / day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2194560" y="4800600"/>
            <a:ext cx="7799832" cy="1417320"/>
          </a:xfrm>
          <a:prstGeom prst="roundRect">
            <a:avLst>
              <a:gd name="adj" fmla="val 6452"/>
            </a:avLst>
          </a:prstGeom>
          <a:solidFill>
            <a:srgbClr val="FDEB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194560" y="4892040"/>
            <a:ext cx="7799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2.5–4 hours saved per day</a:t>
            </a:r>
            <a:endParaRPr lang="en-US" sz="2700" dirty="0"/>
          </a:p>
        </p:txBody>
      </p:sp>
      <p:sp>
        <p:nvSpPr>
          <p:cNvPr id="18" name="Text 16"/>
          <p:cNvSpPr txBox="1"/>
          <p:nvPr/>
        </p:nvSpPr>
        <p:spPr>
          <a:xfrm>
            <a:off x="2194560" y="5440680"/>
            <a:ext cx="7799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roughly 55–90 hours per month (≈22 working days)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194560" y="5852160"/>
            <a:ext cx="7799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additional savings from auto-remediation on known issues, where diagnosis + fix is often under 2 minutes end-to-end.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Are, What's Next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1031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BB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proof-of-concept running on Cloud Run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6974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BB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50 real, resolved ServiceNow incidents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918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BB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4-issue catalog with tested, automatic remediation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554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1031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BB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on live incoming incidents for 2–4 weeks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6974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BB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real diagnosis time &amp; confirm-rate vs. this estimate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32918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BB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auto-remediation catalog based on what repeats most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0" y="502920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0" y="60807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 Copilot  ·  Internal Proof of Concept  ·  Confidential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2026-10-23T13:43:09Z</dcterms:created>
  <dcterms:modified xsi:type="dcterms:W3CDTF">2026-10-23T13:43:09Z</dcterms:modified>
</cp:coreProperties>
</file>