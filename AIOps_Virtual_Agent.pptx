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91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AIOPS VIRTUAL AGENT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Defense &amp; Strategy — Week 4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3580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weeks, one system: telemetry parsing → a RAG diagnostic engine → event-driven auto-remediation → this defense. Fully Google-native, live on Cloud Run today.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1E3548"/>
          </a:solidFill>
          <a:ln/>
        </p:spPr>
      </p:sp>
      <p:pic>
        <p:nvPicPr>
          <p:cNvPr id="6" name="Image 0" descr="/tmp/aiops_plan/deck/icons/servicen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4048963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" y="4599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6CD"/>
                </a:solidFill>
              </a:rPr>
              <a:t>ServiceNow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426464" y="4251960"/>
            <a:ext cx="1261872" cy="0"/>
          </a:xfrm>
          <a:prstGeom prst="line">
            <a:avLst/>
          </a:prstGeom>
          <a:noFill/>
          <a:ln w="19050">
            <a:solidFill>
              <a:srgbClr val="2A4356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743200" y="3977640"/>
            <a:ext cx="548640" cy="548640"/>
          </a:xfrm>
          <a:prstGeom prst="ellipse">
            <a:avLst/>
          </a:prstGeom>
          <a:solidFill>
            <a:srgbClr val="1E3548"/>
          </a:solidFill>
          <a:ln/>
        </p:spPr>
      </p:sp>
      <p:pic>
        <p:nvPicPr>
          <p:cNvPr id="10" name="Image 1" descr="/tmp/aiops_plan/deck/icons/emb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523" y="4048963"/>
            <a:ext cx="405994" cy="40599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331720" y="4599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6CD"/>
                </a:solidFill>
              </a:rPr>
              <a:t>Gemini Embed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346704" y="4251960"/>
            <a:ext cx="1261872" cy="0"/>
          </a:xfrm>
          <a:prstGeom prst="line">
            <a:avLst/>
          </a:prstGeom>
          <a:noFill/>
          <a:ln w="19050">
            <a:solidFill>
              <a:srgbClr val="2A4356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663440" y="3977640"/>
            <a:ext cx="548640" cy="548640"/>
          </a:xfrm>
          <a:prstGeom prst="ellipse">
            <a:avLst/>
          </a:prstGeom>
          <a:solidFill>
            <a:srgbClr val="1E3548"/>
          </a:solidFill>
          <a:ln/>
        </p:spPr>
      </p:sp>
      <p:pic>
        <p:nvPicPr>
          <p:cNvPr id="14" name="Image 2" descr="/tmp/aiops_plan/deck/icons/bigque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763" y="4048963"/>
            <a:ext cx="405994" cy="40599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251960" y="4599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6CD"/>
                </a:solidFill>
              </a:rPr>
              <a:t>BigQuery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266944" y="4251960"/>
            <a:ext cx="1261872" cy="0"/>
          </a:xfrm>
          <a:prstGeom prst="line">
            <a:avLst/>
          </a:prstGeom>
          <a:noFill/>
          <a:ln w="19050">
            <a:solidFill>
              <a:srgbClr val="2A4356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6583680" y="3977640"/>
            <a:ext cx="548640" cy="548640"/>
          </a:xfrm>
          <a:prstGeom prst="ellipse">
            <a:avLst/>
          </a:prstGeom>
          <a:solidFill>
            <a:srgbClr val="1E3548"/>
          </a:solidFill>
          <a:ln/>
        </p:spPr>
      </p:sp>
      <p:pic>
        <p:nvPicPr>
          <p:cNvPr id="18" name="Image 3" descr="/tmp/aiops_plan/deck/icons/reas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003" y="4048963"/>
            <a:ext cx="405994" cy="40599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172200" y="4599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6CD"/>
                </a:solidFill>
              </a:rPr>
              <a:t>Gemini Reason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7187184" y="4251960"/>
            <a:ext cx="1261872" cy="0"/>
          </a:xfrm>
          <a:prstGeom prst="line">
            <a:avLst/>
          </a:prstGeom>
          <a:noFill/>
          <a:ln w="19050">
            <a:solidFill>
              <a:srgbClr val="2A4356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8503920" y="3977640"/>
            <a:ext cx="548640" cy="548640"/>
          </a:xfrm>
          <a:prstGeom prst="ellipse">
            <a:avLst/>
          </a:prstGeom>
          <a:solidFill>
            <a:srgbClr val="1E3548"/>
          </a:solidFill>
          <a:ln/>
        </p:spPr>
      </p:sp>
      <p:pic>
        <p:nvPicPr>
          <p:cNvPr id="22" name="Image 4" descr="/tmp/aiops_plan/deck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5243" y="4048963"/>
            <a:ext cx="405994" cy="40599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092440" y="4599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6CD"/>
                </a:solidFill>
              </a:rPr>
              <a:t>Human Approves</a:t>
            </a:r>
            <a:endParaRPr lang="en-US" sz="950" dirty="0"/>
          </a:p>
        </p:txBody>
      </p:sp>
      <p:sp>
        <p:nvSpPr>
          <p:cNvPr id="24" name="Text 17"/>
          <p:cNvSpPr txBox="1"/>
          <p:nvPr/>
        </p:nvSpPr>
        <p:spPr>
          <a:xfrm>
            <a:off x="82296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 Muni  ·  Assigned by Kanagavel Manoharan (KV)  ·  Google Cloud Run + BigQuery + Gemini + ServiceNow</a:t>
            </a:r>
            <a:endParaRPr lang="en-US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929C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RECAP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4-Week Brief, and What Shipped Each Week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72184"/>
            <a:ext cx="658368" cy="969264"/>
          </a:xfrm>
          <a:prstGeom prst="roundRect">
            <a:avLst>
              <a:gd name="adj" fmla="val 11111"/>
            </a:avLst>
          </a:prstGeom>
          <a:solidFill>
            <a:srgbClr val="1628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72184"/>
            <a:ext cx="658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1545336"/>
            <a:ext cx="502920" cy="50292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7" name="Image 0" descr="/tmp/aiops_plan/deck/icons/f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6980" y="1610716"/>
            <a:ext cx="372161" cy="3721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57400" y="1417320"/>
            <a:ext cx="2834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Telemetry Parsing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1444752"/>
            <a:ext cx="33375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636E"/>
                </a:solidFill>
              </a:rPr>
              <a:t>Pull unassigned ServiceNow incidents via REST API; parse stack traces/logs into structured JSON.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549640" y="1444752"/>
            <a:ext cx="3127248" cy="1042416"/>
          </a:xfrm>
          <a:prstGeom prst="roundRect">
            <a:avLst>
              <a:gd name="adj" fmla="val 5263"/>
            </a:avLst>
          </a:prstGeom>
          <a:solidFill>
            <a:srgbClr val="F0FBF8"/>
          </a:solidFill>
          <a:ln w="12700">
            <a:solidFill>
              <a:srgbClr val="B7ECD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0" y="1490472"/>
            <a:ext cx="2880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B6B3F"/>
                </a:solidFill>
              </a:rPr>
              <a:t>week1_telemetry_parser.py — structured schema (incident_id, service, error_type, stack_frames…), tested against real + malformed tickets.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2920" y="2496312"/>
            <a:ext cx="1115568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2642616"/>
            <a:ext cx="658368" cy="969264"/>
          </a:xfrm>
          <a:prstGeom prst="roundRect">
            <a:avLst>
              <a:gd name="adj" fmla="val 11111"/>
            </a:avLst>
          </a:prstGeom>
          <a:solidFill>
            <a:srgbClr val="16283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2920" y="2642616"/>
            <a:ext cx="658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371600" y="2715768"/>
            <a:ext cx="502920" cy="50292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16" name="Image 1" descr="/tmp/aiops_plan/deck/icons/emb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80" y="2781148"/>
            <a:ext cx="372161" cy="37216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057400" y="2587752"/>
            <a:ext cx="2834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RAG Diagnostic Engine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5029200" y="2615184"/>
            <a:ext cx="33375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636E"/>
                </a:solidFill>
              </a:rPr>
              <a:t>Index real past RCAs in a vector store; auto-suggest root cause for new incidents.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549640" y="2615184"/>
            <a:ext cx="3127248" cy="1042416"/>
          </a:xfrm>
          <a:prstGeom prst="roundRect">
            <a:avLst>
              <a:gd name="adj" fmla="val 5263"/>
            </a:avLst>
          </a:prstGeom>
          <a:solidFill>
            <a:srgbClr val="F0FBF8"/>
          </a:solidFill>
          <a:ln w="12700">
            <a:solidFill>
              <a:srgbClr val="B7ECD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686800" y="2660904"/>
            <a:ext cx="2880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B6B3F"/>
                </a:solidFill>
              </a:rPr>
              <a:t>Google-native RAG: Gemini embeddings + BigQuery VECTOR_SEARCH replace FAISS entirely. Human confirms, corrects, or rejects every suggestion.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02920" y="3666744"/>
            <a:ext cx="1115568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2920" y="3813048"/>
            <a:ext cx="658368" cy="969264"/>
          </a:xfrm>
          <a:prstGeom prst="roundRect">
            <a:avLst>
              <a:gd name="adj" fmla="val 11111"/>
            </a:avLst>
          </a:prstGeom>
          <a:solidFill>
            <a:srgbClr val="16283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502920" y="3813048"/>
            <a:ext cx="658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W3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1371600" y="3886200"/>
            <a:ext cx="502920" cy="50292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25" name="Image 2" descr="/tmp/aiops_plan/deck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980" y="3951580"/>
            <a:ext cx="372161" cy="372161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057400" y="3758184"/>
            <a:ext cx="2834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Event-Driven Auto-Remediation</a:t>
            </a:r>
            <a:endParaRPr lang="en-US" sz="1350" dirty="0"/>
          </a:p>
        </p:txBody>
      </p:sp>
      <p:sp>
        <p:nvSpPr>
          <p:cNvPr id="27" name="Text 22"/>
          <p:cNvSpPr txBox="1"/>
          <p:nvPr/>
        </p:nvSpPr>
        <p:spPr>
          <a:xfrm>
            <a:off x="5029200" y="3785616"/>
            <a:ext cx="33375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636E"/>
                </a:solidFill>
              </a:rPr>
              <a:t>Webhook-triggered function runs a fix and updates ServiceNow automatically.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8549640" y="3785616"/>
            <a:ext cx="3127248" cy="1042416"/>
          </a:xfrm>
          <a:prstGeom prst="roundRect">
            <a:avLst>
              <a:gd name="adj" fmla="val 5263"/>
            </a:avLst>
          </a:prstGeom>
          <a:solidFill>
            <a:srgbClr val="F0FBF8"/>
          </a:solidFill>
          <a:ln w="12700">
            <a:solidFill>
              <a:srgbClr val="B7ECD3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686800" y="3831336"/>
            <a:ext cx="2880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B6B3F"/>
                </a:solidFill>
              </a:rPr>
              <a:t>Split-audience remediation on Cloud Run: an end-user app can only raise a candidate fix — a separate AIOps console app is the only place one ever runs.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02920" y="4837176"/>
            <a:ext cx="1115568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02920" y="4983480"/>
            <a:ext cx="658368" cy="969264"/>
          </a:xfrm>
          <a:prstGeom prst="roundRect">
            <a:avLst>
              <a:gd name="adj" fmla="val 11111"/>
            </a:avLst>
          </a:prstGeom>
          <a:solidFill>
            <a:srgbClr val="162835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502920" y="4983480"/>
            <a:ext cx="658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W4</a:t>
            </a:r>
            <a:endParaRPr lang="en-US" sz="1500" dirty="0"/>
          </a:p>
        </p:txBody>
      </p:sp>
      <p:sp>
        <p:nvSpPr>
          <p:cNvPr id="33" name="Shape 28"/>
          <p:cNvSpPr/>
          <p:nvPr/>
        </p:nvSpPr>
        <p:spPr>
          <a:xfrm>
            <a:off x="1371600" y="5056632"/>
            <a:ext cx="502920" cy="50292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34" name="Image 3" descr="/tmp/aiops_plan/deck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980" y="5122012"/>
            <a:ext cx="372161" cy="372161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2057400" y="4928616"/>
            <a:ext cx="2834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Architecture Defense (today)</a:t>
            </a:r>
            <a:endParaRPr lang="en-US" sz="1350" dirty="0"/>
          </a:p>
        </p:txBody>
      </p:sp>
      <p:sp>
        <p:nvSpPr>
          <p:cNvPr id="36" name="Text 30"/>
          <p:cNvSpPr txBox="1"/>
          <p:nvPr/>
        </p:nvSpPr>
        <p:spPr>
          <a:xfrm>
            <a:off x="5029200" y="4956048"/>
            <a:ext cx="33375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5636E"/>
                </a:solidFill>
              </a:rPr>
              <a:t>30-min presentation: diagram, IaC concepts, projected MTTR impact.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8549640" y="4956048"/>
            <a:ext cx="3127248" cy="1042416"/>
          </a:xfrm>
          <a:prstGeom prst="roundRect">
            <a:avLst>
              <a:gd name="adj" fmla="val 5263"/>
            </a:avLst>
          </a:prstGeom>
          <a:solidFill>
            <a:srgbClr val="F0FBF8"/>
          </a:solidFill>
          <a:ln w="12700">
            <a:solidFill>
              <a:srgbClr val="B7ECD3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8686800" y="5001768"/>
            <a:ext cx="2880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B6B3F"/>
                </a:solidFill>
              </a:rPr>
              <a:t>This deck — final architecture, a Terraform-shaped IaC mapping, one real operation mapped end-to-end, and a live demo across 3 deployed services.</a:t>
            </a:r>
            <a:endParaRPr lang="en-US" sz="950" dirty="0"/>
          </a:p>
        </p:txBody>
      </p:sp>
      <p:sp>
        <p:nvSpPr>
          <p:cNvPr id="39" name="Text 33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1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Architecture, As Deployed Today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621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97A1"/>
                </a:solidFill>
              </a:rPr>
              <a:t>3 Cloud Run services · 1 shared library · 2 BigQuery tables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37760" y="118872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47488" y="127101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47488" y="1664208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· source of truth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" y="204825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(original)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244144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Run: incident-diagnostics-extractor · chat UI, still fully working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069080" y="19659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E9FBF9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78808" y="2048256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aiops_sdk_demo_app  —  End Users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178808" y="2441448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Run: aiops-sdk-demo-app · can only RAISE a candidate fix, never run one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412480" y="196596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22208" y="2048256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aiops_console_app  —  AIOps Team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522208" y="2441448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Run: aiops-console-app · the only place a remedy is ever executed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125980" y="1691640"/>
            <a:ext cx="0" cy="274320"/>
          </a:xfrm>
          <a:prstGeom prst="line">
            <a:avLst/>
          </a:prstGeom>
          <a:noFill/>
          <a:ln w="15875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80760" y="1691640"/>
            <a:ext cx="0" cy="274320"/>
          </a:xfrm>
          <a:prstGeom prst="line">
            <a:avLst/>
          </a:prstGeom>
          <a:noFill/>
          <a:ln w="15875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35540" y="1691640"/>
            <a:ext cx="0" cy="274320"/>
          </a:xfrm>
          <a:prstGeom prst="line">
            <a:avLst/>
          </a:prstGeom>
          <a:noFill/>
          <a:ln w="15875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3749040" y="1440180"/>
            <a:ext cx="1188720" cy="0"/>
          </a:xfrm>
          <a:prstGeom prst="line">
            <a:avLst/>
          </a:prstGeom>
          <a:noFill/>
          <a:ln w="12700">
            <a:solidFill>
              <a:srgbClr val="8A97A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86600" y="2880360"/>
            <a:ext cx="0" cy="164592"/>
          </a:xfrm>
          <a:prstGeom prst="line">
            <a:avLst/>
          </a:prstGeom>
          <a:noFill/>
          <a:ln w="22225">
            <a:solidFill>
              <a:srgbClr val="F790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86600" y="3044952"/>
            <a:ext cx="2299716" cy="0"/>
          </a:xfrm>
          <a:prstGeom prst="line">
            <a:avLst/>
          </a:prstGeom>
          <a:noFill/>
          <a:ln w="22225">
            <a:solidFill>
              <a:srgbClr val="F79009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166360" y="28254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A4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raise_remedy_candidate() → tagged ServiceNow incident → console reviews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566160" y="3246120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162835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75888" y="3328416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aiops_sdk  (shared library, imported by all three)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25980" y="2880360"/>
            <a:ext cx="0" cy="365760"/>
          </a:xfrm>
          <a:prstGeom prst="line">
            <a:avLst/>
          </a:prstGeom>
          <a:noFill/>
          <a:ln w="12700">
            <a:solidFill>
              <a:srgbClr val="B7C2C9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080760" y="2880360"/>
            <a:ext cx="0" cy="365760"/>
          </a:xfrm>
          <a:prstGeom prst="line">
            <a:avLst/>
          </a:prstGeom>
          <a:noFill/>
          <a:ln w="12700">
            <a:solidFill>
              <a:srgbClr val="B7C2C9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0035540" y="2880360"/>
            <a:ext cx="0" cy="365760"/>
          </a:xfrm>
          <a:prstGeom prst="line">
            <a:avLst/>
          </a:prstGeom>
          <a:noFill/>
          <a:ln w="12700">
            <a:solidFill>
              <a:srgbClr val="B7C2C9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063240" y="40233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172968" y="4105656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172968" y="4498848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incident_corpus (retrieval, incremental refresh)  +  demo_state (shared scenario flags)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720840" y="40233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9FBF9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30568" y="4105656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830568" y="449884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for retrieval  +  reasoning over retrieved incidents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 flipH="1">
            <a:off x="4709160" y="3703320"/>
            <a:ext cx="1371600" cy="320040"/>
          </a:xfrm>
          <a:prstGeom prst="line">
            <a:avLst/>
          </a:prstGeom>
          <a:noFill/>
          <a:ln w="12700">
            <a:solidFill>
              <a:srgbClr val="B7C2C9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080760" y="3703320"/>
            <a:ext cx="1965960" cy="320040"/>
          </a:xfrm>
          <a:prstGeom prst="line">
            <a:avLst/>
          </a:prstGeom>
          <a:noFill/>
          <a:ln w="12700">
            <a:solidFill>
              <a:srgbClr val="B7C2C9"/>
            </a:solidFill>
            <a:prstDash val="dash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46920" y="40233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0FBF8"/>
          </a:solidFill>
          <a:ln w="12700">
            <a:solidFill>
              <a:srgbClr val="B7ECD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84080" y="44348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0B6B3F"/>
                </a:solidFill>
              </a:rPr>
              <a:t>Only newly-resolved incidents get embedded — not a full re-embed every time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355080" y="4480560"/>
            <a:ext cx="3291840" cy="0"/>
          </a:xfrm>
          <a:prstGeom prst="line">
            <a:avLst/>
          </a:prstGeom>
          <a:noFill/>
          <a:ln w="15875">
            <a:solidFill>
              <a:srgbClr val="B7ECD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02920" y="52578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7A1"/>
                </a:solidFill>
              </a:rPr>
              <a:t>Split-audience by design: the app describing the problem is never the app that can act on it — a human on the console decides.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1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Used, and What Each One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26464"/>
            <a:ext cx="566928" cy="566928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5" name="Image 0" descr="/tmp/aiops_plan/deck/icons/servicen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21" y="1500165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ServiceNow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68249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5636E"/>
                </a:solidFill>
              </a:rPr>
              <a:t>System of record: source incidents to parse (W1), resolved RCAs that seed the corpus (W2), and the ticket a remedy candidate/resolution is written back to (W3).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502920" y="2596896"/>
            <a:ext cx="566928" cy="566928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9" name="Image 1" descr="/tmp/aiops_plan/deck/icons/emb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21" y="2670597"/>
            <a:ext cx="419527" cy="4195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54203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Gemini Embeddings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285292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5636E"/>
                </a:solidFill>
              </a:rPr>
              <a:t>gemini-embedding-2 turns incident text into a vector capturing its meaning — one paced call per record, RETRIEVAL_DOCUMENT for the corpus, RETRIEVAL_QUERY for a new incident.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502920" y="3767328"/>
            <a:ext cx="566928" cy="566928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13" name="Image 2" descr="/tmp/aiops_plan/deck/icons/bigque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1" y="3841029"/>
            <a:ext cx="419527" cy="41952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71246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BigQuery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402336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5636E"/>
                </a:solidFill>
              </a:rPr>
              <a:t>Two tables: incident_corpus for VECTOR_SEARCH retrieval (cosine, incremental append-only refresh), and demo_state — the small shared table that lets scenario state cross Cloud Run services.</a:t>
            </a:r>
            <a:endParaRPr lang="en-US" sz="980" dirty="0"/>
          </a:p>
        </p:txBody>
      </p:sp>
      <p:sp>
        <p:nvSpPr>
          <p:cNvPr id="16" name="Shape 11"/>
          <p:cNvSpPr/>
          <p:nvPr/>
        </p:nvSpPr>
        <p:spPr>
          <a:xfrm>
            <a:off x="502920" y="4937760"/>
            <a:ext cx="566928" cy="566928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17" name="Image 3" descr="/tmp/aiops_plan/deck/icons/reas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21" y="5011461"/>
            <a:ext cx="419527" cy="41952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488289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Gemini (Reasoning)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1280160" y="519379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5636E"/>
                </a:solidFill>
              </a:rPr>
              <a:t>Reads the new incident plus the top-5 retrieved cases and suggests the most likely root cause and resolution in plain language — in-context, no fine-tuning.</a:t>
            </a:r>
            <a:endParaRPr lang="en-US" sz="980" dirty="0"/>
          </a:p>
        </p:txBody>
      </p:sp>
      <p:sp>
        <p:nvSpPr>
          <p:cNvPr id="20" name="Shape 14"/>
          <p:cNvSpPr/>
          <p:nvPr/>
        </p:nvSpPr>
        <p:spPr>
          <a:xfrm>
            <a:off x="6172200" y="1426464"/>
            <a:ext cx="566928" cy="566928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21" name="Image 4" descr="/tmp/aiops_plan/deck/icons/cloudru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901" y="1500165"/>
            <a:ext cx="419527" cy="41952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49440" y="13716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Cloud Run × 3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6949440" y="168249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5636E"/>
                </a:solidFill>
              </a:rPr>
              <a:t>Three independently deployed services, one shared Docker image: the original app, the end-user demo app, and the AIOps console — each pointed at a different Flask app via a command override.</a:t>
            </a:r>
            <a:endParaRPr lang="en-US" sz="980" dirty="0"/>
          </a:p>
        </p:txBody>
      </p:sp>
      <p:sp>
        <p:nvSpPr>
          <p:cNvPr id="24" name="Shape 17"/>
          <p:cNvSpPr/>
          <p:nvPr/>
        </p:nvSpPr>
        <p:spPr>
          <a:xfrm>
            <a:off x="6172200" y="2596896"/>
            <a:ext cx="566928" cy="566928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25" name="Image 5" descr="/tmp/aiops_plan/deck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901" y="2670597"/>
            <a:ext cx="419527" cy="419527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949440" y="254203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Split-Audience Remediation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6949440" y="285292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5636E"/>
                </a:solidFill>
              </a:rPr>
              <a:t>aiops_sdk/remediation.py's core safety property: raise_remedy_candidate() can never execute a fix; run_confirmed_remedy_for_candidate() is the one method, called from one app, that ever does.</a:t>
            </a:r>
            <a:endParaRPr lang="en-US" sz="980" dirty="0"/>
          </a:p>
        </p:txBody>
      </p:sp>
      <p:sp>
        <p:nvSpPr>
          <p:cNvPr id="28" name="Shape 20"/>
          <p:cNvSpPr/>
          <p:nvPr/>
        </p:nvSpPr>
        <p:spPr>
          <a:xfrm>
            <a:off x="6172200" y="3767328"/>
            <a:ext cx="566928" cy="566928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29" name="Image 6" descr="/tmp/aiops_plan/deck/icons/l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901" y="3841029"/>
            <a:ext cx="419527" cy="41952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949440" y="371246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Env Vars / Secrets</a:t>
            </a:r>
            <a:endParaRPr lang="en-US" sz="1350" dirty="0"/>
          </a:p>
        </p:txBody>
      </p:sp>
      <p:sp>
        <p:nvSpPr>
          <p:cNvPr id="31" name="Text 22"/>
          <p:cNvSpPr txBox="1"/>
          <p:nvPr/>
        </p:nvSpPr>
        <p:spPr>
          <a:xfrm>
            <a:off x="6949440" y="402336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5636E"/>
                </a:solidFill>
              </a:rPr>
              <a:t>ServiceNow credentials and the Gemini API key are injected per Cloud Run service at deploy time, not baked into the image — carried forward automatically on any redeploy that doesn't touch them.</a:t>
            </a:r>
            <a:endParaRPr lang="en-US" sz="980" dirty="0"/>
          </a:p>
        </p:txBody>
      </p:sp>
      <p:sp>
        <p:nvSpPr>
          <p:cNvPr id="32" name="Shape 23"/>
          <p:cNvSpPr/>
          <p:nvPr/>
        </p:nvSpPr>
        <p:spPr>
          <a:xfrm>
            <a:off x="6172200" y="4937760"/>
            <a:ext cx="566928" cy="566928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33" name="Image 7" descr="/tmp/aiops_plan/deck/icons/hum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901" y="5011461"/>
            <a:ext cx="419527" cy="419527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949440" y="488289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</a:rPr>
              <a:t>Human-in-the-Loop</a:t>
            </a:r>
            <a:endParaRPr lang="en-US" sz="1350" dirty="0"/>
          </a:p>
        </p:txBody>
      </p:sp>
      <p:sp>
        <p:nvSpPr>
          <p:cNvPr id="35" name="Text 25"/>
          <p:cNvSpPr txBox="1"/>
          <p:nvPr/>
        </p:nvSpPr>
        <p:spPr>
          <a:xfrm>
            <a:off x="6949440" y="519379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5636E"/>
                </a:solidFill>
              </a:rPr>
              <a:t>Two distinct human checkpoints: a person confirms/corrects/rejects a retrieval suggestion (W2), and a different person approves a remedy candidate before it ever runs (W3).</a:t>
            </a:r>
            <a:endParaRPr lang="en-US" sz="980" dirty="0"/>
          </a:p>
        </p:txBody>
      </p:sp>
      <p:sp>
        <p:nvSpPr>
          <p:cNvPr id="36" name="Text 26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1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3, IN DETAIL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 Auto-Remediation, With A Safety Property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36E"/>
                </a:solidFill>
              </a:rPr>
              <a:t>KV's brief asked for a webhook-triggered function that runs a fix and updates ServiceNow. This does that — but the person describing a problem is never the one authorizing the fix.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E9FBF9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1956816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Incident described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350008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app matches it against a known-fix catalog (cosine similarity) — confidently, or not at all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60520" y="187452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FF4E5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70248" y="1956816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Candidate raised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270248" y="2350008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raise_remedy_candidate() opens a real, unresolved ServiceNow incident tagged for AIOps review — runs nothing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18120" y="187452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0FB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27848" y="1956816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AIOps approves &amp; runs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27848" y="2350008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B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run_confirmed_remedy_for_candidate() executes the real fix and resolves the SAME incident — the only method anywhere that does both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86200" y="2400300"/>
            <a:ext cx="274320" cy="0"/>
          </a:xfrm>
          <a:prstGeom prst="line">
            <a:avLst/>
          </a:prstGeom>
          <a:noFill/>
          <a:ln w="19050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43800" y="2400300"/>
            <a:ext cx="274320" cy="0"/>
          </a:xfrm>
          <a:prstGeom prst="line">
            <a:avLst/>
          </a:prstGeom>
          <a:noFill/>
          <a:ln w="19050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" y="3246120"/>
            <a:ext cx="11155680" cy="1371600"/>
          </a:xfrm>
          <a:prstGeom prst="roundRect">
            <a:avLst>
              <a:gd name="adj" fmla="val 5333"/>
            </a:avLst>
          </a:prstGeom>
          <a:solidFill>
            <a:srgbClr val="16283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2461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Proved by 3 automated checks, not just by eye: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4E2"/>
                </a:solidFill>
              </a:rPr>
              <a:t>every remedy function is patched to explode if called, then raise_remedy_candidate() is run against a confident match — the test passes because nothing fired. The same catalog, same threshold, same match logic runs on both apps; only the authority to execute differs.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84632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FFF8EC"/>
          </a:solidFill>
          <a:ln w="12700">
            <a:solidFill>
              <a:srgbClr val="E2A2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8463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8A4B0A"/>
                </a:solidFill>
              </a:rPr>
              <a:t>The honest gap: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4B0A"/>
                </a:solidFill>
              </a:rPr>
              <a:t>today, anyone with the console app's URL can approve a fix — there's no login on either app yet. That's a named, real gap for a production rollout, not something glossed over.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1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 THE WAY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Engineering Problems, Actually Solved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673352"/>
            <a:ext cx="530352" cy="530352"/>
          </a:xfrm>
          <a:prstGeom prst="ellipse">
            <a:avLst/>
          </a:prstGeom>
          <a:solidFill>
            <a:srgbClr val="F0F3F5"/>
          </a:solidFill>
          <a:ln/>
        </p:spPr>
      </p:sp>
      <p:pic>
        <p:nvPicPr>
          <p:cNvPr id="6" name="Image 0" descr="/tmp/aiops_plan/deck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898" y="1742298"/>
            <a:ext cx="392460" cy="392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733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</a:rPr>
              <a:t>Resolved ≠ Closed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5636E"/>
                </a:solidFill>
              </a:rPr>
              <a:t>The corpus count silently undercounted (17 vs. 96 real resolutions) because ServiceNow's `active` flag only goes false at Closed, not Resolved. Fixed by querying stateIN6,7, not state=6 alone.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73952" y="1673352"/>
            <a:ext cx="530352" cy="530352"/>
          </a:xfrm>
          <a:prstGeom prst="ellipse">
            <a:avLst/>
          </a:prstGeom>
          <a:solidFill>
            <a:srgbClr val="F0F3F5"/>
          </a:solidFill>
          <a:ln/>
        </p:spPr>
      </p:sp>
      <p:pic>
        <p:nvPicPr>
          <p:cNvPr id="11" name="Image 1" descr="/tmp/aiops_plan/deck/icons/cloudru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898" y="1742298"/>
            <a:ext cx="392460" cy="392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6733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</a:rPr>
              <a:t>No Shared Disk Across Services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33172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5636E"/>
                </a:solidFill>
              </a:rPr>
              <a:t>Splitting into 3 Cloud Run services broke the demo's local-file scenario state — each service has its own private disk. Fixed with a small shared BigQuery table, local-file fallback if BigQuery is unreachable.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40233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8952" y="4279392"/>
            <a:ext cx="530352" cy="530352"/>
          </a:xfrm>
          <a:prstGeom prst="ellipse">
            <a:avLst/>
          </a:prstGeom>
          <a:solidFill>
            <a:srgbClr val="F0F3F5"/>
          </a:solidFill>
          <a:ln/>
        </p:spPr>
      </p:sp>
      <p:pic>
        <p:nvPicPr>
          <p:cNvPr id="16" name="Image 2" descr="/tmp/aiops_plan/deck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8" y="4348338"/>
            <a:ext cx="392460" cy="392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2793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</a:rPr>
              <a:t>Full Re-Embed On Every Fix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493776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5636E"/>
                </a:solidFill>
              </a:rPr>
              <a:t>Approving one fix triggered re-embedding the entire corpus (minutes, and only gets slower). Fixed to check which incidents are already embedded first, and only embed + append what's genuinely new.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73952" y="4279392"/>
            <a:ext cx="530352" cy="530352"/>
          </a:xfrm>
          <a:prstGeom prst="ellipse">
            <a:avLst/>
          </a:prstGeom>
          <a:solidFill>
            <a:srgbClr val="F0F3F5"/>
          </a:solidFill>
          <a:ln/>
        </p:spPr>
      </p:sp>
      <p:pic>
        <p:nvPicPr>
          <p:cNvPr id="21" name="Image 3" descr="/tmp/aiops_plan/deck/icons/dedu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898" y="4348338"/>
            <a:ext cx="392460" cy="392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42793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</a:rPr>
              <a:t>Rate Limits &amp; Silent Batch Failures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6492240" y="493776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5636E"/>
                </a:solidFill>
              </a:rPr>
              <a:t>Bulk embedding calls tripped Gemini's rate limit; batching many texts into one call silently returned empty vectors for most of them. Fixed: one record per call, paced ~1.5s apart, with backoff retries.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1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By-Hand Deploys To Terraform-Shaped IaC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5636E"/>
                </a:solidFill>
              </a:rPr>
              <a:t>Honest starting point: every resource below exists today because of a gcloud CLI command run by hand. Nothing here is applied as Terraform yet — this is the concrete shape it would take, mapped to the real, running resources.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856232"/>
            <a:ext cx="457200" cy="45720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6" name="Image 0" descr="/tmp/aiops_plan/deck/icons/cloud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915668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783080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</a:rPr>
              <a:t>3 × Cloud Run service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3931920" y="1783080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google_cloud_run_v2_service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1801368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5636E"/>
                </a:solidFill>
              </a:rPr>
              <a:t>One resource block per service, same image, different --command/--args — exactly today's 3 gcloud run deploy calls, expressed declaratively.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2523744"/>
            <a:ext cx="11155680" cy="0"/>
          </a:xfrm>
          <a:prstGeom prst="line">
            <a:avLst/>
          </a:prstGeom>
          <a:noFill/>
          <a:ln w="6350">
            <a:solidFill>
              <a:srgbClr val="DDE3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2651760"/>
            <a:ext cx="457200" cy="45720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12" name="Image 1" descr="/tmp/aiops_plan/deck/icons/bigqu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271119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2578608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</a:rPr>
              <a:t>BigQuery dataset + 2 tables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3931920" y="2578608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google_bigquery_dataset / google_bigquery_table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7086600" y="2596896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5636E"/>
                </a:solidFill>
              </a:rPr>
              <a:t>incident_corpus and demo_state, schema-defined in code instead of created implicitly on first load — removes "which script created this table again?" as a question.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02920" y="3319272"/>
            <a:ext cx="11155680" cy="0"/>
          </a:xfrm>
          <a:prstGeom prst="line">
            <a:avLst/>
          </a:prstGeom>
          <a:noFill/>
          <a:ln w="6350">
            <a:solidFill>
              <a:srgbClr val="DDE3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02920" y="3447288"/>
            <a:ext cx="457200" cy="45720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18" name="Image 2" descr="/tmp/aiops_plan/deck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3506724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43000" y="3374136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</a:rPr>
              <a:t>Service account + IAM bindings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3931920" y="3374136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google_service_account / google_project_iam_member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7086600" y="3392424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5636E"/>
                </a:solidFill>
              </a:rPr>
              <a:t>The identity Cloud Run runs as, and exactly which roles it holds (BigQuery data editor, nothing broader) — today this is whatever Cloud Run's default service account happens to have.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02920" y="4114800"/>
            <a:ext cx="11155680" cy="0"/>
          </a:xfrm>
          <a:prstGeom prst="line">
            <a:avLst/>
          </a:prstGeom>
          <a:noFill/>
          <a:ln w="6350">
            <a:solidFill>
              <a:srgbClr val="DDE3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02920" y="4242816"/>
            <a:ext cx="457200" cy="45720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24" name="Image 3" descr="/tmp/aiops_plan/deck/icons/jo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" y="4302252"/>
            <a:ext cx="338328" cy="33832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43000" y="4169664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</a:rPr>
              <a:t>Artifact Registry + Cloud Build trigger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3931920" y="4169664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google_artifact_registry_repository / google_cloudbuild_trigger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7086600" y="4187952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5636E"/>
                </a:solidFill>
              </a:rPr>
              <a:t>Turns "redeploy by running gcloud run deploy --source . by hand" into "push to main → build → deploy" — the actual gap between today and a real CI/CD path.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4910328"/>
            <a:ext cx="11155680" cy="0"/>
          </a:xfrm>
          <a:prstGeom prst="line">
            <a:avLst/>
          </a:prstGeom>
          <a:noFill/>
          <a:ln w="6350">
            <a:solidFill>
              <a:srgbClr val="DDE3E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02920" y="5038344"/>
            <a:ext cx="457200" cy="45720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30" name="Image 4" descr="/tmp/aiops_plan/deck/icons/tick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" y="5097780"/>
            <a:ext cx="338328" cy="33832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143000" y="4965192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</a:rPr>
              <a:t>ServiceNow connection (external)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3931920" y="4965192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a GCP resource — stays a documented dependency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7086600" y="4983480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5636E"/>
                </a:solidFill>
              </a:rPr>
              <a:t>Terraform manages GCP; the ServiceNow instance and its credentials are provisioned outside it and referenced as variables — named explicitly so it's never assumed to be "in" the IaC.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1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Real Manual Operation, Mapped End-to-End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6E"/>
                </a:solidFill>
              </a:rPr>
              <a:t>The operation this pipeline replaces isn't hypothetical — it's the exact workflow an L1/L2 engineer runs today on a recurring, previously-seen incident.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7A1"/>
                </a:solidFill>
              </a:rPr>
              <a:t>Manual: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3794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</a:rPr>
              <a:t>Read the new ticket &amp; logs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166360" y="1728216"/>
            <a:ext cx="502920" cy="0"/>
          </a:xfrm>
          <a:prstGeom prst="line">
            <a:avLst/>
          </a:prstGeom>
          <a:noFill/>
          <a:ln w="19050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806440" y="1691640"/>
            <a:ext cx="5852160" cy="621792"/>
          </a:xfrm>
          <a:prstGeom prst="roundRect">
            <a:avLst>
              <a:gd name="adj" fmla="val 8824"/>
            </a:avLst>
          </a:prstGeom>
          <a:solidFill>
            <a:srgbClr val="F0FBF8"/>
          </a:solidFill>
          <a:ln w="12700">
            <a:solidFill>
              <a:srgbClr val="B7EC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89320" y="173736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0B6B3F"/>
                </a:solidFill>
              </a:rPr>
              <a:t>week1_telemetry_parser.py parses the stack trace/log into structured fields automatically</a:t>
            </a:r>
            <a:endParaRPr lang="en-US" sz="97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40487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7A1"/>
                </a:solidFill>
              </a:rPr>
              <a:t>Manual: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55117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</a:rPr>
              <a:t>Search old tickets / tribal knowledge for a similar past fix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66360" y="2441448"/>
            <a:ext cx="502920" cy="0"/>
          </a:xfrm>
          <a:prstGeom prst="line">
            <a:avLst/>
          </a:prstGeom>
          <a:noFill/>
          <a:ln w="19050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06440" y="2404872"/>
            <a:ext cx="5852160" cy="621792"/>
          </a:xfrm>
          <a:prstGeom prst="roundRect">
            <a:avLst>
              <a:gd name="adj" fmla="val 8824"/>
            </a:avLst>
          </a:prstGeom>
          <a:solidFill>
            <a:srgbClr val="F0FBF8"/>
          </a:solidFill>
          <a:ln w="12700">
            <a:solidFill>
              <a:srgbClr val="B7EC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245059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0B6B3F"/>
                </a:solidFill>
              </a:rPr>
              <a:t>Gemini embeds the incident; BigQuery VECTOR_SEARCH returns the top-5 most similar resolved incidents in under a second</a:t>
            </a:r>
            <a:endParaRPr lang="en-US" sz="97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1181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7A1"/>
                </a:solidFill>
              </a:rPr>
              <a:t>Manual: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26440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</a:rPr>
              <a:t>Decide what the RCA and fix probably are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66360" y="3154680"/>
            <a:ext cx="502920" cy="0"/>
          </a:xfrm>
          <a:prstGeom prst="line">
            <a:avLst/>
          </a:prstGeom>
          <a:noFill/>
          <a:ln w="19050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06440" y="3118104"/>
            <a:ext cx="5852160" cy="621792"/>
          </a:xfrm>
          <a:prstGeom prst="roundRect">
            <a:avLst>
              <a:gd name="adj" fmla="val 8824"/>
            </a:avLst>
          </a:prstGeom>
          <a:solidFill>
            <a:srgbClr val="F0FBF8"/>
          </a:solidFill>
          <a:ln w="12700">
            <a:solidFill>
              <a:srgbClr val="B7EC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89320" y="316382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0B6B3F"/>
                </a:solidFill>
              </a:rPr>
              <a:t>Gemini reasons over the retrieved RCAs and drafts a suggested root cause + resolution, citing which past incidents it used</a:t>
            </a:r>
            <a:endParaRPr lang="en-US" sz="97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3831336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7A1"/>
                </a:solidFill>
              </a:rPr>
              <a:t>Manual: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397764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</a:rPr>
              <a:t>Get a second opinion / sanity-check before acting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66360" y="3867912"/>
            <a:ext cx="502920" cy="0"/>
          </a:xfrm>
          <a:prstGeom prst="line">
            <a:avLst/>
          </a:prstGeom>
          <a:noFill/>
          <a:ln w="19050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806440" y="3831336"/>
            <a:ext cx="5852160" cy="621792"/>
          </a:xfrm>
          <a:prstGeom prst="roundRect">
            <a:avLst>
              <a:gd name="adj" fmla="val 8824"/>
            </a:avLst>
          </a:prstGeom>
          <a:solidFill>
            <a:srgbClr val="F0FBF8"/>
          </a:solidFill>
          <a:ln w="12700">
            <a:solidFill>
              <a:srgbClr val="B7ECD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9320" y="387705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0B6B3F"/>
                </a:solidFill>
              </a:rPr>
              <a:t>A human confirms, corrects, or rejects the suggestion — exactly the checkpoint that already existed, just fed a draft instead of starting blank</a:t>
            </a:r>
            <a:endParaRPr lang="en-US" sz="97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45445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A97A1"/>
                </a:solidFill>
              </a:rPr>
              <a:t>Manual: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4690872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733"/>
                </a:solidFill>
              </a:rPr>
              <a:t>Run the fix by hand and update the ticket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66360" y="4581144"/>
            <a:ext cx="502920" cy="0"/>
          </a:xfrm>
          <a:prstGeom prst="line">
            <a:avLst/>
          </a:prstGeom>
          <a:noFill/>
          <a:ln w="19050">
            <a:solidFill>
              <a:srgbClr val="8A97A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806440" y="4544568"/>
            <a:ext cx="5852160" cy="621792"/>
          </a:xfrm>
          <a:prstGeom prst="roundRect">
            <a:avLst>
              <a:gd name="adj" fmla="val 8824"/>
            </a:avLst>
          </a:prstGeom>
          <a:solidFill>
            <a:srgbClr val="F0FBF8"/>
          </a:solidFill>
          <a:ln w="12700">
            <a:solidFill>
              <a:srgbClr val="B7ECD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89320" y="459028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0B6B3F"/>
                </a:solidFill>
              </a:rPr>
              <a:t>For a known, cataloged issue: a separate AIOps reviewer approves once, and the same remedy code runs it and resolves the ticket automatically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502920" y="5367528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16283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536752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Projected MTTR, this operation — a reasoned estimate, not a measured one: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4E2"/>
                </a:solidFill>
              </a:rPr>
              <a:t>~25–35 min manual triage-to-fix (read, search, decide, act, update) → ~2–5 min with retrieval + a one-time human approval. The gap is triage and search time, not the fix itself — which is why this targets MTTR, not the underlying incident rate.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1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System Stands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62835"/>
          </a:solidFill>
          <a:ln w="12700">
            <a:solidFill>
              <a:srgbClr val="2A43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3A4"/>
                </a:solidFill>
              </a:rPr>
              <a:t>3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4E2"/>
                </a:solidFill>
              </a:rPr>
              <a:t>Cloud Run services, 1 shared image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62835"/>
          </a:solidFill>
          <a:ln w="12700">
            <a:solidFill>
              <a:srgbClr val="2A43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E90FA"/>
                </a:solidFill>
              </a:rPr>
              <a:t>100+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4E2"/>
                </a:solidFill>
              </a:rPr>
              <a:t>Real ServiceNow incidents in the corpus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62835"/>
          </a:solidFill>
          <a:ln w="12700">
            <a:solidFill>
              <a:srgbClr val="2A43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79009"/>
                </a:solidFill>
              </a:rPr>
              <a:t>0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4E2"/>
                </a:solidFill>
              </a:rPr>
              <a:t>Fixes ever run without human approval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62835"/>
          </a:solidFill>
          <a:ln w="12700">
            <a:solidFill>
              <a:srgbClr val="2A43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2B76A"/>
                </a:solidFill>
              </a:rPr>
              <a:t>100%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926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4E2"/>
                </a:solidFill>
              </a:rPr>
              <a:t>Google-native — no FAISS, no self-hosted models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354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1480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Live today, not staged: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4E2"/>
                </a:solidFill>
              </a:rPr>
              <a:t>the original app, the end-user demo app, and the AIOps console are all deployed and reachable right now. This deck's live demo runs against those same three URLs, not a local copy.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929C"/>
                </a:solidFill>
              </a:rPr>
              <a:t>Corpus count is a live BigQuery read, not a cached number — it will read differently on the day of the actual demo.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929C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This Beyond One Operation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94360" cy="59436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5" name="Image 0" descr="/tmp/aiops_plan/deck/icons/r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907" y="1586027"/>
            <a:ext cx="439826" cy="4398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17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</a:rPr>
              <a:t>Add a second incident type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8013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</a:rPr>
              <a:t>Same pipeline, a second known-fix catalog entry — the architecture doesn't change, only the catalog and corpus grow.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478024"/>
            <a:ext cx="1074420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679192"/>
            <a:ext cx="594360" cy="59436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10" name="Image 1" descr="/tmp/aiops_plan/deck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07" y="2756459"/>
            <a:ext cx="439826" cy="43982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5877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</a:rPr>
              <a:t>Real authentication on the console app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29718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</a:rPr>
              <a:t>The named gap from Slide 5 — today anyone with the URL can approve a fix; role-based access is the next real milestone, not a stretch.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648456"/>
            <a:ext cx="1074420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849624"/>
            <a:ext cx="594360" cy="59436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15" name="Image 2" descr="/tmp/aiops_plan/deck/icons/jo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07" y="3926891"/>
            <a:ext cx="439826" cy="43982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75818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</a:rPr>
              <a:t>Terraform the 5 resources from Slide 7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41422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</a:rPr>
              <a:t>Turn today's by-hand gcloud deploys into applied IaC — the mapping already exists, this is executing it.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4818888"/>
            <a:ext cx="10744200" cy="0"/>
          </a:xfrm>
          <a:prstGeom prst="line">
            <a:avLst/>
          </a:prstGeom>
          <a:noFill/>
          <a:ln w="9525">
            <a:solidFill>
              <a:srgbClr val="DDE3E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5020056"/>
            <a:ext cx="594360" cy="594360"/>
          </a:xfrm>
          <a:prstGeom prst="ellipse">
            <a:avLst/>
          </a:prstGeom>
          <a:solidFill>
            <a:srgbClr val="E9FBF9"/>
          </a:solidFill>
          <a:ln/>
        </p:spPr>
      </p:sp>
      <p:pic>
        <p:nvPicPr>
          <p:cNvPr id="20" name="Image 3" descr="/tmp/aiops_plan/deck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07" y="5097323"/>
            <a:ext cx="439826" cy="43982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49286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</a:rPr>
              <a:t>Replace the MTTR estimate with a measured one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417320" y="53126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36E"/>
                </a:solidFill>
              </a:rPr>
              <a:t>Once this runs on real recurring incidents for a few weeks, log actual triage-to-resolution time and compare against the Slide 8 projection.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1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4E2"/>
                </a:solidFill>
              </a:rPr>
              <a:t>Questions, feedback, and which real operation to point this at next are all welcome.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929C"/>
                </a:solidFill>
              </a:rPr>
              <a:t>Ramesh Muni  ·  AIOps Modernization Initiative  ·  Assigned by Kanagavel Manoharan (KV)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929C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AIOps Virtual Agent — Architecture Defense</dc:title>
  <dc:subject>PptxGenJS Presentation</dc:subject>
  <dc:creator>Ramesh Muni</dc:creator>
  <cp:lastModifiedBy>Ramesh Muni</cp:lastModifiedBy>
  <cp:revision>1</cp:revision>
  <dcterms:created xsi:type="dcterms:W3CDTF">2026-09-15T06:56:01Z</dcterms:created>
  <dcterms:modified xsi:type="dcterms:W3CDTF">2026-09-15T06:56:01Z</dcterms:modified>
</cp:coreProperties>
</file>