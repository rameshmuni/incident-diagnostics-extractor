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AIOPS VIRTUAL AGENT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Diagnostics Assistant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101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Google-native Retrieval-Augmented Generation pipeline for automated incident triage — no FAISS, no self-hosted models, no local index 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6" name="Image 0" descr="/tmp/aiops_plan/deck/icons/service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42342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800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6CD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63040" y="4443984"/>
            <a:ext cx="1618488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54680" y="4160520"/>
            <a:ext cx="566928" cy="566928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0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81" y="4234221"/>
            <a:ext cx="419527" cy="419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4800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6CD"/>
                </a:solidFill>
              </a:rPr>
              <a:t>Gemini Embed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794760" y="4443984"/>
            <a:ext cx="1618488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486400" y="4160520"/>
            <a:ext cx="566928" cy="566928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4" name="Image 2" descr="/tmp/aiops_plan/deck/icons/bigqu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01" y="4234221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4800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6CD"/>
                </a:solidFill>
              </a:rPr>
              <a:t>BigQuery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26480" y="4443984"/>
            <a:ext cx="1618488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818120" y="4160520"/>
            <a:ext cx="566928" cy="566928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8" name="Image 3" descr="/tmp/aiops_plan/deck/icons/rea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821" y="4234221"/>
            <a:ext cx="419527" cy="41952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52360" y="4800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6CD"/>
                </a:solidFill>
              </a:rPr>
              <a:t>Gemini Reason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Muni  ·  AIOps Modernization Initiative  ·  Google Cloud Run + BigQuery + Gemini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and What Was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E7F1FF"/>
          </a:solidFill>
          <a:ln/>
        </p:spPr>
      </p:sp>
      <p:pic>
        <p:nvPicPr>
          <p:cNvPr id="6" name="Image 0" descr="/tmp/aiops_plan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7570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</a:rPr>
              <a:t>The Ask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entire assistant on Cloud Run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FAISS as the vector store, end to end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Google product for embeddings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Google product for vector storage &amp; search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Google LLM for the reasoning step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691640"/>
            <a:ext cx="502920" cy="502920"/>
          </a:xfrm>
          <a:prstGeom prst="ellipse">
            <a:avLst/>
          </a:prstGeom>
          <a:solidFill>
            <a:srgbClr val="D3F5E6"/>
          </a:solidFill>
          <a:ln/>
        </p:spPr>
      </p:sp>
      <p:pic>
        <p:nvPicPr>
          <p:cNvPr id="11" name="Image 1" descr="/tmp/aiops_plan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17570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B3F"/>
                </a:solidFill>
              </a:rPr>
              <a:t>Delivered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24688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Service (chat UI) + Cloud Run Job (corpus refresh) — only compute used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VECTOR_SEARCH fully replaces FAISS; no index files, no rebuild-to-refresh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model (gemini-embedding-2), 768-dim, per-record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incident_corpus table stores every embedding as a normal column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over the top-3 retrieved incidents to suggest root cause + fix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621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7A1"/>
                </a:solidFill>
              </a:rPr>
              <a:t>Fully Google-native · Cloud Run hosted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636E"/>
                </a:solidFill>
              </a:rPr>
              <a:t>BUILD-TIME · CORPUS REFRESH   (Cloud Run Job: incident-refresh)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8930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824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incidents (state = 6)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20700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72968" y="128930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Corpus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16824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fetch_resolved_incidents.py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120700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79008" y="128930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(Gemini)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779008" y="168249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gemini-embedding-2 · 768-dim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20700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5048" y="128930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Corpus Table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16824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incident_corpus · WRITE_TRUNCATE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1664208"/>
            <a:ext cx="2743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94960" y="1664208"/>
            <a:ext cx="2743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1664208"/>
            <a:ext cx="2743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7200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5636E"/>
                </a:solidFill>
              </a:rPr>
              <a:t>QUERY-TIME · LIVE ASSISTANT   (Cloud Run Service: incident-assistant)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91693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Incident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3101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in chat 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2834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15768" y="291693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715768" y="331012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RETRIEVAL_QUERY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8346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0328" y="2916936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VECTOR_SEARCH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910328" y="331012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top-3 · cosine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9480" y="2834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79208" y="2916936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379208" y="331012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resolution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555480" y="28346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65208" y="2916936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Verdict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665208" y="331012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· correct · none apply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77440" y="3291840"/>
            <a:ext cx="22860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0" y="3291840"/>
            <a:ext cx="22860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3291840"/>
            <a:ext cx="22860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326880" y="3291840"/>
            <a:ext cx="22860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46920" y="2121408"/>
            <a:ext cx="0" cy="219456"/>
          </a:xfrm>
          <a:prstGeom prst="line">
            <a:avLst/>
          </a:prstGeom>
          <a:noFill/>
          <a:ln w="19050">
            <a:solidFill>
              <a:srgbClr val="2E90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5920740" y="2340864"/>
            <a:ext cx="3726180" cy="0"/>
          </a:xfrm>
          <a:prstGeom prst="line">
            <a:avLst/>
          </a:prstGeom>
          <a:noFill/>
          <a:ln w="19050">
            <a:solidFill>
              <a:srgbClr val="2E90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20740" y="2340864"/>
            <a:ext cx="0" cy="493776"/>
          </a:xfrm>
          <a:prstGeom prst="line">
            <a:avLst/>
          </a:prstGeom>
          <a:noFill/>
          <a:ln w="19050">
            <a:solidFill>
              <a:srgbClr val="2E90FA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366260" y="2121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2E9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52 vectors, 768-dim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420624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0FB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13448" y="428853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Logged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013448" y="468172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feedback_log.jsonl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418320" y="4206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28048" y="42885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4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New Ticket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528048" y="468172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ServiceNow, state = New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629900" y="3749040"/>
            <a:ext cx="0" cy="201168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8069580" y="3950208"/>
            <a:ext cx="2560320" cy="0"/>
          </a:xfrm>
          <a:prstGeom prst="line">
            <a:avLst/>
          </a:prstGeom>
          <a:noFill/>
          <a:ln w="19050">
            <a:solidFill>
              <a:srgbClr val="00B3A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69580" y="3950208"/>
            <a:ext cx="0" cy="256032"/>
          </a:xfrm>
          <a:prstGeom prst="line">
            <a:avLst/>
          </a:prstGeom>
          <a:noFill/>
          <a:ln w="19050">
            <a:solidFill>
              <a:srgbClr val="00B3A4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>
            <a:off x="10561320" y="3950208"/>
            <a:ext cx="68580" cy="0"/>
          </a:xfrm>
          <a:prstGeom prst="line">
            <a:avLst/>
          </a:prstGeom>
          <a:noFill/>
          <a:ln w="19050">
            <a:solidFill>
              <a:srgbClr val="F790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61320" y="3950208"/>
            <a:ext cx="0" cy="256032"/>
          </a:xfrm>
          <a:prstGeom prst="line">
            <a:avLst/>
          </a:prstGeom>
          <a:noFill/>
          <a:ln w="19050">
            <a:solidFill>
              <a:srgbClr val="F79009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660654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correct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1028700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5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apply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561320" y="5074920"/>
            <a:ext cx="0" cy="256032"/>
          </a:xfrm>
          <a:prstGeom prst="line">
            <a:avLst/>
          </a:prstGeom>
          <a:noFill/>
          <a:ln w="19050">
            <a:solidFill>
              <a:srgbClr val="009488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flipH="1">
            <a:off x="164592" y="5330952"/>
            <a:ext cx="10396728" cy="0"/>
          </a:xfrm>
          <a:prstGeom prst="line">
            <a:avLst/>
          </a:prstGeom>
          <a:noFill/>
          <a:ln w="19050">
            <a:solidFill>
              <a:srgbClr val="009488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 flipV="1">
            <a:off x="164592" y="1664208"/>
            <a:ext cx="0" cy="3666744"/>
          </a:xfrm>
          <a:prstGeom prst="line">
            <a:avLst/>
          </a:prstGeom>
          <a:noFill/>
          <a:ln w="19050">
            <a:solidFill>
              <a:srgbClr val="00948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164592" y="1664208"/>
            <a:ext cx="292608" cy="0"/>
          </a:xfrm>
          <a:prstGeom prst="line">
            <a:avLst/>
          </a:prstGeom>
          <a:noFill/>
          <a:ln w="19050">
            <a:solidFill>
              <a:srgbClr val="009488"/>
            </a:solidFill>
            <a:prstDash val="dash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914400" y="5074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resolves with RCA → feeds the next corpus refresh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Used, and What Each One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5" name="Image 0" descr="/tmp/aiops_plan/deck/icons/service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1500165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ServiceNow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82496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System of record for incidents — stores resolved RCAs that seed the corpus, and receives new tickets the assistant can't confidently resolve.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596896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9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21" y="2670597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420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Gemini Embeddings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52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gemini-embedding-2 turns incident text into a 768-dimension vector capturing its meaning — one call per record, paced to respect rate limits.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767328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3" name="Image 2" descr="/tmp/aiops_plan/deck/icons/bigqu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3841029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124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BigQuery + VECTOR_SEARCH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0233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Stores every embedding as a table column and finds the closest matches by cosine similarity — a full, serverless replacement for FAISS.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4937760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7" name="Image 3" descr="/tmp/aiops_plan/deck/icons/rea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1" y="501146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8828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Gemini (LLM Reasoning)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519379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Reads the new incident plus the top-3 retrieved cases and suggests the most likely root cause and resolution in plain language.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172200" y="1426464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1" name="Image 4" descr="/tmp/aiops_plan/deck/icons/cloudr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901" y="1500165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Cloud Run Service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6949440" y="1682496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Hosts the always-on Flask web app and chat UI end users interact with — the incident-assistant service.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2596896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5" name="Image 5" descr="/tmp/aiops_plan/deck/icons/jo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901" y="2670597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49440" y="25420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Cloud Run Job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6949440" y="2852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Runs the corpus refresh on demand: re-fetches resolved incidents and rebuilds the BigQuery table — the incident-refresh job.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172200" y="3767328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9" name="Image 6" descr="/tmp/aiops_plan/deck/icons/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901" y="3841029"/>
            <a:ext cx="419527" cy="41952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49440" y="37124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Secret Manager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6949440" y="40233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Stores ServiceNow credentials and the Gemini API key securely, injected into Cloud Run at deploy time — never baked into the image.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172200" y="4937760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33" name="Image 7" descr="/tmp/aiops_plan/deck/icons/hum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901" y="5011461"/>
            <a:ext cx="419527" cy="41952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49440" y="48828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Human-in-the-Loop UI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6949440" y="519379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36E"/>
                </a:solidFill>
              </a:rPr>
              <a:t>Every AI suggestion is confirmed, corrected, or escalated by a person before it's treated as final — nothing auto-applies.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ACTUALLY RUNS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New Incident to Verified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868680" cy="868680"/>
          </a:xfrm>
          <a:prstGeom prst="ellipse">
            <a:avLst/>
          </a:prstGeom>
          <a:solidFill>
            <a:srgbClr val="1628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Incident described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Typed into the chat 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99032" y="2811780"/>
            <a:ext cx="1133856" cy="0"/>
          </a:xfrm>
          <a:prstGeom prst="line">
            <a:avLst/>
          </a:prstGeom>
          <a:noFill/>
          <a:ln w="2222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377440"/>
            <a:ext cx="868680" cy="868680"/>
          </a:xfrm>
          <a:prstGeom prst="ellipse">
            <a:avLst/>
          </a:prstGeom>
          <a:solidFill>
            <a:srgbClr val="1628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Embedded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Gemini turns it into a vector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56432" y="2811780"/>
            <a:ext cx="1133856" cy="0"/>
          </a:xfrm>
          <a:prstGeom prst="line">
            <a:avLst/>
          </a:prstGeom>
          <a:noFill/>
          <a:ln w="2222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2377440"/>
            <a:ext cx="868680" cy="868680"/>
          </a:xfrm>
          <a:prstGeom prst="ellipse">
            <a:avLst/>
          </a:prstGeom>
          <a:solidFill>
            <a:srgbClr val="1628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Top-3 retrieved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BigQuery VECTOR_SEARCH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13832" y="2811780"/>
            <a:ext cx="1133856" cy="0"/>
          </a:xfrm>
          <a:prstGeom prst="line">
            <a:avLst/>
          </a:prstGeom>
          <a:noFill/>
          <a:ln w="2222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0" y="2377440"/>
            <a:ext cx="868680" cy="868680"/>
          </a:xfrm>
          <a:prstGeom prst="ellipse">
            <a:avLst/>
          </a:prstGeom>
          <a:solidFill>
            <a:srgbClr val="1628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Root cause suggested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Gemini reasons over matches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71232" y="2811780"/>
            <a:ext cx="1133856" cy="0"/>
          </a:xfrm>
          <a:prstGeom prst="line">
            <a:avLst/>
          </a:prstGeom>
          <a:noFill/>
          <a:ln w="2222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32520" y="2377440"/>
            <a:ext cx="868680" cy="868680"/>
          </a:xfrm>
          <a:prstGeom prst="ellipse">
            <a:avLst/>
          </a:prstGeom>
          <a:solidFill>
            <a:srgbClr val="F7900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325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Human verifies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Confirm, correct, or reject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28632" y="2811780"/>
            <a:ext cx="1133856" cy="0"/>
          </a:xfrm>
          <a:prstGeom prst="line">
            <a:avLst/>
          </a:prstGeom>
          <a:noFill/>
          <a:ln w="2222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789920" y="2377440"/>
            <a:ext cx="868680" cy="868680"/>
          </a:xfrm>
          <a:prstGeom prst="ellipse">
            <a:avLst/>
          </a:prstGeom>
          <a:solidFill>
            <a:srgbClr val="00948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789920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0287000" y="34107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</a:rPr>
              <a:t>Logged or escalated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287000" y="39044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36E"/>
                </a:solidFill>
              </a:rPr>
              <a:t>Feedback saved / new ticket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8EC"/>
          </a:solidFill>
          <a:ln w="12700">
            <a:solidFill>
              <a:srgbClr val="E2A2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120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4B0A"/>
                </a:solidFill>
              </a:rPr>
              <a:t>Nothing is auto-applied.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4B0A"/>
                </a:solidFill>
              </a:rPr>
              <a:t>A person always makes the final call — that's the design, not a gap: retrieval and reasoning narrow 50+ past incidents down to one good suggestion, but a human confirms it before it counts.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Engineering Problems, Actually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7335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6" name="Image 0" descr="/tmp/aiops_plan/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98" y="1742298"/>
            <a:ext cx="392460" cy="392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429 Rate Limits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Bulk embedding calls tripped Gemini's rate limit. Fixed with a per-record pace (~1.5s apart) plus exponential-backoff retries.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67335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11" name="Image 1" descr="/tmp/aiops_plan/deck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898" y="1742298"/>
            <a:ext cx="392460" cy="392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Silent Batch Failures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Batching many texts into one embed_content() call returned empty vectors for almost every record — no error raised. Fixed by embedding one record per call.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" y="427939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16" name="Image 2" descr="/tmp/aiops_plan/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8" y="4348338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The Stale-Data Illusion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9377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Querying BigQuery before a refresh job actually finished kept showing old results. Fixed by always confirming the job execution reports Succeeded first.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27939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21" name="Image 3" descr="/tmp/aiops_plan/deck/icons/ded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898" y="4348338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Duplicate Seed Data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9377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Re-running the seed script with no idempotency guard silently doubled every incident. Built an audit + de-dupe pass — corpus now holds exactly 52 unique records.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Corpus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3A4"/>
                </a:solidFill>
              </a:rPr>
              <a:t>52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4E2"/>
                </a:solidFill>
              </a:rPr>
              <a:t>Unique resolved incidents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90FA"/>
                </a:solidFill>
              </a:rPr>
              <a:t>768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4E2"/>
                </a:solidFill>
              </a:rPr>
              <a:t>Embedding dimensions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9009"/>
                </a:solidFill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4E2"/>
                </a:solidFill>
              </a:rPr>
              <a:t>Google-native stack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B76A"/>
                </a:solidFill>
              </a:rPr>
              <a:t>0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4E2"/>
                </a:solidFill>
              </a:rPr>
              <a:t>Duplicate records remaining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35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Retrieval and reasoning both check out on live test queries.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4E2"/>
                </a:solidFill>
              </a:rPr>
              <a:t>Duplicate matches (the same incident surfacing twice) are gone, and Gemini's suggested root cause has matched the correct past incident without needing a human correction.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929C"/>
                </a:solidFill>
              </a:rPr>
              <a:t>From 102 records with 50 exact duplicates → 52 clean, unique, fully-embedded incidents.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5" name="Image 0" descr="/tmp/aiops_plan/deck/icons/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7" y="1586027"/>
            <a:ext cx="439826" cy="439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Surface priority end-to-end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013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Currently fetched from ServiceNow but dropped before it reaches the corpus or UI — a quick, contained fix.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0" name="Image 1" descr="/tmp/aiops_plan/deck/icons/jo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7" y="2756459"/>
            <a:ext cx="439826" cy="43982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587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Schedule automatic refresh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971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Move from a manually-triggered Cloud Run Job to a Cloud Scheduler-driven refresh on a regular cadence.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648456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849624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5" name="Image 2" descr="/tmp/aiops_plan/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3926891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7581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Grow the corpus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142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As more real incidents get resolved in ServiceNow with proper RCA notes, retrieval quality keeps improving.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18888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020056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0" name="Image 3" descr="/tmp/aiops_plan/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7" y="5097323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9286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Human-on-the-loop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5312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As feedback_log.jsonl accumulates verified judgments, move from confirming every answer to spot-checking high-confidence ones.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4E2"/>
                </a:solidFill>
              </a:rPr>
              <a:t>Questions, feedback, and ideas for what the assistant should tackle next are all welcome.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29C"/>
                </a:solidFill>
              </a:rPr>
              <a:t>Ramesh Muni  ·  AIOps Modernization Initiative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Virtual Agent — Incident Diagnostics Assistant</dc:title>
  <dc:subject>PptxGenJS Presentation</dc:subject>
  <dc:creator>Ramesh Muni</dc:creator>
  <cp:lastModifiedBy>Ramesh Muni</cp:lastModifiedBy>
  <cp:revision>1</cp:revision>
  <dcterms:created xsi:type="dcterms:W3CDTF">2026-09-05T16:51:15Z</dcterms:created>
  <dcterms:modified xsi:type="dcterms:W3CDTF">2026-09-05T16:51:15Z</dcterms:modified>
</cp:coreProperties>
</file>